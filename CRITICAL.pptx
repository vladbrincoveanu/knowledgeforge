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67" r:id="rId5"/>
    <p:sldId id="259" r:id="rId6"/>
    <p:sldId id="260" r:id="rId7"/>
    <p:sldId id="261" r:id="rId8"/>
    <p:sldId id="262" r:id="rId9"/>
    <p:sldId id="263" r:id="rId10"/>
    <p:sldId id="264" r:id="rId11"/>
    <p:sldId id="265" r:id="rId12"/>
    <p:sldId id="266"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28"/>
    <p:restoredTop sz="82398"/>
  </p:normalViewPr>
  <p:slideViewPr>
    <p:cSldViewPr snapToGrid="0" snapToObjects="1">
      <p:cViewPr>
        <p:scale>
          <a:sx n="189" d="100"/>
          <a:sy n="189" d="100"/>
        </p:scale>
        <p:origin x="144"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10196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This is a core design problem for </a:t>
            </a:r>
            <a:r>
              <a:rPr lang="en-US" dirty="0" err="1"/>
              <a:t>KnowledgeForge</a:t>
            </a:r>
            <a:r>
              <a:rPr lang="en-US" dirty="0"/>
              <a:t>. Let me think through the approaches.</a:t>
            </a:r>
          </a:p>
          <a:p>
            <a:r>
              <a:rPr lang="en-US" dirty="0"/>
              <a:t>Your </a:t>
            </a:r>
            <a:r>
              <a:rPr lang="en-US" dirty="0" err="1"/>
              <a:t>DependencyDetector</a:t>
            </a:r>
            <a:r>
              <a:rPr lang="en-US" dirty="0"/>
              <a:t> already has the right instinct with </a:t>
            </a:r>
            <a:r>
              <a:rPr lang="en-US" sz="1200" kern="1200" dirty="0">
                <a:solidFill>
                  <a:schemeClr val="tx1"/>
                </a:solidFill>
                <a:latin typeface="+mn-lt"/>
                <a:ea typeface="+mn-ea"/>
                <a:cs typeface="+mn-cs"/>
              </a:rPr>
              <a:t>NUGET_DEPENDENCY_MAP</a:t>
            </a:r>
            <a:r>
              <a:rPr lang="en-US" dirty="0"/>
              <a:t> (60+ entries) and the SaaS mappings for Python/</a:t>
            </a:r>
            <a:r>
              <a:rPr lang="en-US" dirty="0" err="1"/>
              <a:t>npm</a:t>
            </a:r>
            <a:r>
              <a:rPr lang="en-US" dirty="0"/>
              <a:t>. But the question is: what's the general, deterministic rule that makes this work across any ecosystem?</a:t>
            </a:r>
          </a:p>
          <a:p>
            <a:r>
              <a:rPr lang="en-US" dirty="0"/>
              <a:t>There are really only a few signals you can check without an LLM:</a:t>
            </a:r>
          </a:p>
          <a:p>
            <a:r>
              <a:rPr lang="en-US" b="1" dirty="0"/>
              <a:t>1. Curated SDK mapping (what you already do)</a:t>
            </a:r>
            <a:endParaRPr lang="en-US" dirty="0"/>
          </a:p>
          <a:p>
            <a:r>
              <a:rPr lang="en-US" dirty="0"/>
              <a:t>A maintained dictionary: </a:t>
            </a:r>
            <a:r>
              <a:rPr lang="en-US" sz="1200" kern="1200" dirty="0">
                <a:solidFill>
                  <a:schemeClr val="tx1"/>
                </a:solidFill>
                <a:latin typeface="+mn-lt"/>
                <a:ea typeface="+mn-ea"/>
                <a:cs typeface="+mn-cs"/>
              </a:rPr>
              <a:t>library name → external system</a:t>
            </a:r>
            <a:r>
              <a:rPr lang="en-US" dirty="0"/>
              <a:t>. This is the most reliable. </a:t>
            </a:r>
            <a:r>
              <a:rPr lang="en-US" sz="1200" kern="1200" dirty="0">
                <a:solidFill>
                  <a:schemeClr val="tx1"/>
                </a:solidFill>
                <a:latin typeface="+mn-lt"/>
                <a:ea typeface="+mn-ea"/>
                <a:cs typeface="+mn-cs"/>
              </a:rPr>
              <a:t>stripe</a:t>
            </a:r>
            <a:r>
              <a:rPr lang="en-US" dirty="0"/>
              <a:t> → Stripe, </a:t>
            </a:r>
            <a:r>
              <a:rPr lang="en-US" sz="1200" kern="1200" dirty="0">
                <a:solidFill>
                  <a:schemeClr val="tx1"/>
                </a:solidFill>
                <a:latin typeface="+mn-lt"/>
                <a:ea typeface="+mn-ea"/>
                <a:cs typeface="+mn-cs"/>
              </a:rPr>
              <a:t>boto3</a:t>
            </a:r>
            <a:r>
              <a:rPr lang="en-US" dirty="0"/>
              <a:t> → AWS, </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sendgrid</a:t>
            </a:r>
            <a:r>
              <a:rPr lang="en-US" sz="1200" kern="1200" dirty="0">
                <a:solidFill>
                  <a:schemeClr val="tx1"/>
                </a:solidFill>
                <a:latin typeface="+mn-lt"/>
                <a:ea typeface="+mn-ea"/>
                <a:cs typeface="+mn-cs"/>
              </a:rPr>
              <a:t>/mail</a:t>
            </a:r>
            <a:r>
              <a:rPr lang="en-US" dirty="0"/>
              <a:t> → SendGrid. The problem is coverage: there are thousands of SDK libraries and you'll never map them all. But in practice, the long tail doesn't matter much because the top 200 or so SDKs cover the vast majority of real-world integrations.</a:t>
            </a:r>
          </a:p>
          <a:p>
            <a:r>
              <a:rPr lang="en-US" b="1" dirty="0"/>
              <a:t>2. Library metadata inspection</a:t>
            </a:r>
            <a:endParaRPr lang="en-US" dirty="0"/>
          </a:p>
          <a:p>
            <a:r>
              <a:rPr lang="en-US" dirty="0"/>
              <a:t>This is where it gets interesting for a deterministic approach. Package registries (</a:t>
            </a:r>
            <a:r>
              <a:rPr lang="en-US" dirty="0" err="1"/>
              <a:t>PyPI</a:t>
            </a:r>
            <a:r>
              <a:rPr lang="en-US" dirty="0"/>
              <a:t>, </a:t>
            </a:r>
            <a:r>
              <a:rPr lang="en-US" dirty="0" err="1"/>
              <a:t>npm</a:t>
            </a:r>
            <a:r>
              <a:rPr lang="en-US" dirty="0"/>
              <a:t>, Maven Central) expose metadata you can check:</a:t>
            </a:r>
          </a:p>
          <a:p>
            <a:r>
              <a:rPr lang="en-US" b="1" dirty="0"/>
              <a:t>Package description/keywords.</a:t>
            </a:r>
            <a:r>
              <a:rPr lang="en-US" dirty="0"/>
              <a:t> If the </a:t>
            </a:r>
            <a:r>
              <a:rPr lang="en-US" dirty="0" err="1"/>
              <a:t>PyPI</a:t>
            </a:r>
            <a:r>
              <a:rPr lang="en-US" dirty="0"/>
              <a:t> description says "client for" or "SDK for" or "API wrapper", it's almost certainly wrapping an external service. You can regex for patterns like </a:t>
            </a:r>
            <a:r>
              <a:rPr lang="en-US" sz="1200" kern="1200" dirty="0">
                <a:solidFill>
                  <a:schemeClr val="tx1"/>
                </a:solidFill>
                <a:latin typeface="+mn-lt"/>
                <a:ea typeface="+mn-ea"/>
                <a:cs typeface="+mn-cs"/>
              </a:rPr>
              <a:t>client for *</a:t>
            </a:r>
            <a:r>
              <a:rPr lang="en-US" dirty="0"/>
              <a:t>, </a:t>
            </a:r>
            <a:r>
              <a:rPr lang="en-US" sz="1200" kern="1200" dirty="0">
                <a:solidFill>
                  <a:schemeClr val="tx1"/>
                </a:solidFill>
                <a:latin typeface="+mn-lt"/>
                <a:ea typeface="+mn-ea"/>
                <a:cs typeface="+mn-cs"/>
              </a:rPr>
              <a:t>SDK for *</a:t>
            </a:r>
            <a:r>
              <a:rPr lang="en-US" dirty="0"/>
              <a:t>, </a:t>
            </a:r>
            <a:r>
              <a:rPr lang="en-US" sz="1200" kern="1200" dirty="0">
                <a:solidFill>
                  <a:schemeClr val="tx1"/>
                </a:solidFill>
                <a:latin typeface="+mn-lt"/>
                <a:ea typeface="+mn-ea"/>
                <a:cs typeface="+mn-cs"/>
              </a:rPr>
              <a:t>wrapper for *</a:t>
            </a:r>
            <a:r>
              <a:rPr lang="en-US" dirty="0"/>
              <a:t>, </a:t>
            </a:r>
            <a:r>
              <a:rPr lang="en-US" sz="1200" kern="1200" dirty="0">
                <a:solidFill>
                  <a:schemeClr val="tx1"/>
                </a:solidFill>
                <a:latin typeface="+mn-lt"/>
                <a:ea typeface="+mn-ea"/>
                <a:cs typeface="+mn-cs"/>
              </a:rPr>
              <a:t>interface to *</a:t>
            </a:r>
            <a:r>
              <a:rPr lang="en-US" dirty="0"/>
              <a:t>.</a:t>
            </a:r>
          </a:p>
          <a:p>
            <a:r>
              <a:rPr lang="en-US" b="1" dirty="0"/>
              <a:t>Homepage URL.</a:t>
            </a:r>
            <a:r>
              <a:rPr lang="en-US" dirty="0"/>
              <a:t> If the package homepage points to </a:t>
            </a:r>
            <a:r>
              <a:rPr lang="en-US" sz="1200" kern="1200" dirty="0" err="1">
                <a:solidFill>
                  <a:schemeClr val="tx1"/>
                </a:solidFill>
                <a:latin typeface="+mn-lt"/>
                <a:ea typeface="+mn-ea"/>
                <a:cs typeface="+mn-cs"/>
              </a:rPr>
              <a:t>stripe.com</a:t>
            </a:r>
            <a:r>
              <a:rPr lang="en-US" dirty="0"/>
              <a:t>, </a:t>
            </a:r>
            <a:r>
              <a:rPr lang="en-US" sz="1200" kern="1200" dirty="0" err="1">
                <a:solidFill>
                  <a:schemeClr val="tx1"/>
                </a:solidFill>
                <a:latin typeface="+mn-lt"/>
                <a:ea typeface="+mn-ea"/>
                <a:cs typeface="+mn-cs"/>
              </a:rPr>
              <a:t>aws.amazon.com</a:t>
            </a:r>
            <a:r>
              <a:rPr lang="en-US" dirty="0"/>
              <a:t>, </a:t>
            </a:r>
            <a:r>
              <a:rPr lang="en-US" sz="1200" kern="1200" dirty="0" err="1">
                <a:solidFill>
                  <a:schemeClr val="tx1"/>
                </a:solidFill>
                <a:latin typeface="+mn-lt"/>
                <a:ea typeface="+mn-ea"/>
                <a:cs typeface="+mn-cs"/>
              </a:rPr>
              <a:t>twilio.com</a:t>
            </a:r>
            <a:r>
              <a:rPr lang="en-US" dirty="0"/>
              <a:t>, it's an SDK for that service. You could maintain a domain → service mapping rather than a package → service mapping, which scales better.</a:t>
            </a:r>
          </a:p>
          <a:p>
            <a:r>
              <a:rPr lang="en-US" b="1" dirty="0"/>
              <a:t>Package name conventions.</a:t>
            </a:r>
            <a:r>
              <a:rPr lang="en-US" dirty="0"/>
              <a:t> Many SDKs follow naming patterns: </a:t>
            </a:r>
            <a:r>
              <a:rPr lang="en-US" sz="1200" kern="1200" dirty="0">
                <a:solidFill>
                  <a:schemeClr val="tx1"/>
                </a:solidFill>
                <a:latin typeface="+mn-lt"/>
                <a:ea typeface="+mn-ea"/>
                <a:cs typeface="+mn-cs"/>
              </a:rPr>
              <a:t>azure-*</a:t>
            </a:r>
            <a:r>
              <a:rPr lang="en-US" dirty="0"/>
              <a:t>, </a:t>
            </a:r>
            <a:r>
              <a:rPr lang="en-US" sz="1200" kern="1200" dirty="0" err="1">
                <a:solidFill>
                  <a:schemeClr val="tx1"/>
                </a:solidFill>
                <a:latin typeface="+mn-lt"/>
                <a:ea typeface="+mn-ea"/>
                <a:cs typeface="+mn-cs"/>
              </a:rPr>
              <a:t>aws-cdk</a:t>
            </a:r>
            <a:r>
              <a:rPr lang="en-US" sz="1200" kern="1200" dirty="0">
                <a:solidFill>
                  <a:schemeClr val="tx1"/>
                </a:solidFill>
                <a:latin typeface="+mn-lt"/>
                <a:ea typeface="+mn-ea"/>
                <a:cs typeface="+mn-cs"/>
              </a:rPr>
              <a:t>-*</a:t>
            </a:r>
            <a:r>
              <a:rPr lang="en-US" dirty="0"/>
              <a:t>, </a:t>
            </a:r>
            <a:r>
              <a:rPr lang="en-US" sz="1200" kern="1200" dirty="0">
                <a:solidFill>
                  <a:schemeClr val="tx1"/>
                </a:solidFill>
                <a:latin typeface="+mn-lt"/>
                <a:ea typeface="+mn-ea"/>
                <a:cs typeface="+mn-cs"/>
              </a:rPr>
              <a:t>google-cloud-*</a:t>
            </a:r>
            <a:r>
              <a:rPr lang="en-US" dirty="0"/>
              <a:t>, </a:t>
            </a:r>
            <a:r>
              <a:rPr lang="en-US" sz="1200" kern="1200" dirty="0">
                <a:solidFill>
                  <a:schemeClr val="tx1"/>
                </a:solidFill>
                <a:latin typeface="+mn-lt"/>
                <a:ea typeface="+mn-ea"/>
                <a:cs typeface="+mn-cs"/>
              </a:rPr>
              <a:t>@slack/*</a:t>
            </a:r>
            <a:r>
              <a:rPr lang="en-US" dirty="0"/>
              <a:t>, </a:t>
            </a:r>
            <a:r>
              <a:rPr lang="en-US" sz="1200" kern="1200" dirty="0" err="1">
                <a:solidFill>
                  <a:schemeClr val="tx1"/>
                </a:solidFill>
                <a:latin typeface="+mn-lt"/>
                <a:ea typeface="+mn-ea"/>
                <a:cs typeface="+mn-cs"/>
              </a:rPr>
              <a:t>twilio</a:t>
            </a:r>
            <a:r>
              <a:rPr lang="en-US" dirty="0"/>
              <a:t>, </a:t>
            </a:r>
            <a:r>
              <a:rPr lang="en-US" sz="1200" kern="1200" dirty="0">
                <a:solidFill>
                  <a:schemeClr val="tx1"/>
                </a:solidFill>
                <a:latin typeface="+mn-lt"/>
                <a:ea typeface="+mn-ea"/>
                <a:cs typeface="+mn-cs"/>
              </a:rPr>
              <a:t>sentry-</a:t>
            </a:r>
            <a:r>
              <a:rPr lang="en-US" sz="1200" kern="1200" dirty="0" err="1">
                <a:solidFill>
                  <a:schemeClr val="tx1"/>
                </a:solidFill>
                <a:latin typeface="+mn-lt"/>
                <a:ea typeface="+mn-ea"/>
                <a:cs typeface="+mn-cs"/>
              </a:rPr>
              <a:t>sdk</a:t>
            </a:r>
            <a:r>
              <a:rPr lang="en-US" dirty="0"/>
              <a:t>. Prefix/suffix matching catches a lot.</a:t>
            </a:r>
          </a:p>
          <a:p>
            <a:r>
              <a:rPr lang="en-US" b="1" dirty="0"/>
              <a:t>3. Import pattern analysis in code</a:t>
            </a:r>
            <a:endParaRPr lang="en-US" dirty="0"/>
          </a:p>
          <a:p>
            <a:r>
              <a:rPr lang="en-US" dirty="0"/>
              <a:t>Instead of just scanning </a:t>
            </a:r>
            <a:r>
              <a:rPr lang="en-US" sz="1200" kern="1200" dirty="0" err="1">
                <a:solidFill>
                  <a:schemeClr val="tx1"/>
                </a:solidFill>
                <a:latin typeface="+mn-lt"/>
                <a:ea typeface="+mn-ea"/>
                <a:cs typeface="+mn-cs"/>
              </a:rPr>
              <a:t>requirements.txt</a:t>
            </a:r>
            <a:r>
              <a:rPr lang="en-US" dirty="0"/>
              <a:t>, scan the actual source code for how the library is used:</a:t>
            </a:r>
          </a:p>
          <a:p>
            <a:r>
              <a:rPr lang="en-US" dirty="0"/>
              <a:t>If code constructs an HTTP client, URL, or connection string using the library → it's talking to something external.</a:t>
            </a:r>
          </a:p>
          <a:p>
            <a:r>
              <a:rPr lang="en-US" dirty="0"/>
              <a:t>If code only does in-process computation (data transforms, parsing, math) → it's not.</a:t>
            </a:r>
          </a:p>
          <a:p>
            <a:r>
              <a:rPr lang="en-US" dirty="0"/>
              <a:t>But this crosses from "deterministic" into "heuristic" territory and gets expensive.</a:t>
            </a:r>
          </a:p>
          <a:p>
            <a:r>
              <a:rPr lang="en-US" b="1" dirty="0"/>
              <a:t>4. Network-level classification</a:t>
            </a:r>
            <a:endParaRPr lang="en-US" dirty="0"/>
          </a:p>
          <a:p>
            <a:r>
              <a:rPr lang="en-US" dirty="0"/>
              <a:t>The most principled deterministic rule: </a:t>
            </a:r>
            <a:r>
              <a:rPr lang="en-US" b="1" dirty="0"/>
              <a:t>does this library, by definition, require a network connection to function?</a:t>
            </a:r>
            <a:endParaRPr lang="en-US" dirty="0"/>
          </a:p>
          <a:p>
            <a:r>
              <a:rPr lang="en-US" dirty="0"/>
              <a:t>You can classify libraries into categories:</a:t>
            </a:r>
          </a:p>
          <a:p>
            <a:r>
              <a:rPr lang="en-US" dirty="0" err="1"/>
              <a:t>CategoryExternal</a:t>
            </a:r>
            <a:r>
              <a:rPr lang="en-US" dirty="0"/>
              <a:t> </a:t>
            </a:r>
            <a:r>
              <a:rPr lang="en-US" dirty="0" err="1"/>
              <a:t>system?Detection</a:t>
            </a:r>
            <a:r>
              <a:rPr lang="en-US" b="1" dirty="0" err="1"/>
              <a:t>Cloud</a:t>
            </a:r>
            <a:r>
              <a:rPr lang="en-US" b="1" dirty="0"/>
              <a:t> provider </a:t>
            </a:r>
            <a:r>
              <a:rPr lang="en-US" b="1" dirty="0" err="1"/>
              <a:t>SDKs</a:t>
            </a:r>
            <a:r>
              <a:rPr lang="en-US" dirty="0" err="1"/>
              <a:t>YesPrefix</a:t>
            </a:r>
            <a:r>
              <a:rPr lang="en-US" dirty="0"/>
              <a:t> match: </a:t>
            </a:r>
            <a:r>
              <a:rPr lang="en-US" sz="1200" kern="1200" dirty="0">
                <a:solidFill>
                  <a:schemeClr val="tx1"/>
                </a:solidFill>
                <a:latin typeface="+mn-lt"/>
                <a:ea typeface="+mn-ea"/>
                <a:cs typeface="+mn-cs"/>
              </a:rPr>
              <a:t>boto3</a:t>
            </a:r>
            <a:r>
              <a:rPr lang="en-US" dirty="0"/>
              <a:t>, </a:t>
            </a:r>
            <a:r>
              <a:rPr lang="en-US" sz="1200" kern="1200" dirty="0">
                <a:solidFill>
                  <a:schemeClr val="tx1"/>
                </a:solidFill>
                <a:latin typeface="+mn-lt"/>
                <a:ea typeface="+mn-ea"/>
                <a:cs typeface="+mn-cs"/>
              </a:rPr>
              <a:t>azure-*</a:t>
            </a:r>
            <a:r>
              <a:rPr lang="en-US" dirty="0"/>
              <a:t>, </a:t>
            </a:r>
            <a:r>
              <a:rPr lang="en-US" sz="1200" kern="1200" dirty="0">
                <a:solidFill>
                  <a:schemeClr val="tx1"/>
                </a:solidFill>
                <a:latin typeface="+mn-lt"/>
                <a:ea typeface="+mn-ea"/>
                <a:cs typeface="+mn-cs"/>
              </a:rPr>
              <a:t>google-cloud-*</a:t>
            </a:r>
            <a:r>
              <a:rPr lang="en-US" dirty="0"/>
              <a:t>, </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aws-sdk</a:t>
            </a:r>
            <a:r>
              <a:rPr lang="en-US" sz="1200" kern="1200" dirty="0">
                <a:solidFill>
                  <a:schemeClr val="tx1"/>
                </a:solidFill>
                <a:latin typeface="+mn-lt"/>
                <a:ea typeface="+mn-ea"/>
                <a:cs typeface="+mn-cs"/>
              </a:rPr>
              <a:t>/*</a:t>
            </a:r>
            <a:r>
              <a:rPr lang="en-US" b="1" dirty="0"/>
              <a:t>SaaS API </a:t>
            </a:r>
            <a:r>
              <a:rPr lang="en-US" b="1" dirty="0" err="1"/>
              <a:t>clients</a:t>
            </a:r>
            <a:r>
              <a:rPr lang="en-US" dirty="0" err="1"/>
              <a:t>YesCurated</a:t>
            </a:r>
            <a:r>
              <a:rPr lang="en-US" dirty="0"/>
              <a:t> map + "client/SDK/wrapper" in package </a:t>
            </a:r>
            <a:r>
              <a:rPr lang="en-US" dirty="0" err="1"/>
              <a:t>description</a:t>
            </a:r>
            <a:r>
              <a:rPr lang="en-US" b="1" dirty="0" err="1"/>
              <a:t>Database</a:t>
            </a:r>
            <a:r>
              <a:rPr lang="en-US" b="1" dirty="0"/>
              <a:t> </a:t>
            </a:r>
            <a:r>
              <a:rPr lang="en-US" b="1" dirty="0" err="1"/>
              <a:t>drivers</a:t>
            </a:r>
            <a:r>
              <a:rPr lang="en-US" dirty="0" err="1"/>
              <a:t>Produces</a:t>
            </a:r>
            <a:r>
              <a:rPr lang="en-US" dirty="0"/>
              <a:t> a Container, not external </a:t>
            </a:r>
            <a:r>
              <a:rPr lang="en-US" dirty="0" err="1"/>
              <a:t>systemCurated</a:t>
            </a:r>
            <a:r>
              <a:rPr lang="en-US" dirty="0"/>
              <a:t> list: </a:t>
            </a:r>
            <a:r>
              <a:rPr lang="en-US" sz="1200" kern="1200" dirty="0">
                <a:solidFill>
                  <a:schemeClr val="tx1"/>
                </a:solidFill>
                <a:latin typeface="+mn-lt"/>
                <a:ea typeface="+mn-ea"/>
                <a:cs typeface="+mn-cs"/>
              </a:rPr>
              <a:t>psycopg2</a:t>
            </a:r>
            <a:r>
              <a:rPr lang="en-US" dirty="0"/>
              <a:t>, </a:t>
            </a:r>
            <a:r>
              <a:rPr lang="en-US" sz="1200" kern="1200" dirty="0" err="1">
                <a:solidFill>
                  <a:schemeClr val="tx1"/>
                </a:solidFill>
                <a:latin typeface="+mn-lt"/>
                <a:ea typeface="+mn-ea"/>
                <a:cs typeface="+mn-cs"/>
              </a:rPr>
              <a:t>pymongo</a:t>
            </a:r>
            <a:r>
              <a:rPr lang="en-US" dirty="0"/>
              <a:t>, </a:t>
            </a:r>
            <a:r>
              <a:rPr lang="en-US" sz="1200" kern="1200" dirty="0" err="1">
                <a:solidFill>
                  <a:schemeClr val="tx1"/>
                </a:solidFill>
                <a:latin typeface="+mn-lt"/>
                <a:ea typeface="+mn-ea"/>
                <a:cs typeface="+mn-cs"/>
              </a:rPr>
              <a:t>mysql</a:t>
            </a:r>
            <a:r>
              <a:rPr lang="en-US" sz="1200" kern="1200" dirty="0">
                <a:solidFill>
                  <a:schemeClr val="tx1"/>
                </a:solidFill>
                <a:latin typeface="+mn-lt"/>
                <a:ea typeface="+mn-ea"/>
                <a:cs typeface="+mn-cs"/>
              </a:rPr>
              <a:t>-connector</a:t>
            </a:r>
            <a:r>
              <a:rPr lang="en-US" dirty="0"/>
              <a:t>, </a:t>
            </a:r>
            <a:r>
              <a:rPr lang="en-US" sz="1200" kern="1200" dirty="0" err="1">
                <a:solidFill>
                  <a:schemeClr val="tx1"/>
                </a:solidFill>
                <a:latin typeface="+mn-lt"/>
                <a:ea typeface="+mn-ea"/>
                <a:cs typeface="+mn-cs"/>
              </a:rPr>
              <a:t>redis</a:t>
            </a:r>
            <a:r>
              <a:rPr lang="en-US" b="1" dirty="0" err="1"/>
              <a:t>Message</a:t>
            </a:r>
            <a:r>
              <a:rPr lang="en-US" b="1" dirty="0"/>
              <a:t> broker </a:t>
            </a:r>
            <a:r>
              <a:rPr lang="en-US" b="1" dirty="0" err="1"/>
              <a:t>clients</a:t>
            </a:r>
            <a:r>
              <a:rPr lang="en-US" dirty="0" err="1"/>
              <a:t>Produces</a:t>
            </a:r>
            <a:r>
              <a:rPr lang="en-US" dirty="0"/>
              <a:t> a </a:t>
            </a:r>
            <a:r>
              <a:rPr lang="en-US" dirty="0" err="1"/>
              <a:t>Container</a:t>
            </a:r>
            <a:r>
              <a:rPr lang="en-US" sz="1200" kern="1200" dirty="0" err="1">
                <a:solidFill>
                  <a:schemeClr val="tx1"/>
                </a:solidFill>
                <a:latin typeface="+mn-lt"/>
                <a:ea typeface="+mn-ea"/>
                <a:cs typeface="+mn-cs"/>
              </a:rPr>
              <a:t>kafka</a:t>
            </a:r>
            <a:r>
              <a:rPr lang="en-US" sz="1200" kern="1200" dirty="0">
                <a:solidFill>
                  <a:schemeClr val="tx1"/>
                </a:solidFill>
                <a:latin typeface="+mn-lt"/>
                <a:ea typeface="+mn-ea"/>
                <a:cs typeface="+mn-cs"/>
              </a:rPr>
              <a:t>-python</a:t>
            </a:r>
            <a:r>
              <a:rPr lang="en-US" dirty="0"/>
              <a:t>, </a:t>
            </a:r>
            <a:r>
              <a:rPr lang="en-US" sz="1200" kern="1200" dirty="0">
                <a:solidFill>
                  <a:schemeClr val="tx1"/>
                </a:solidFill>
                <a:latin typeface="+mn-lt"/>
                <a:ea typeface="+mn-ea"/>
                <a:cs typeface="+mn-cs"/>
              </a:rPr>
              <a:t>pika</a:t>
            </a:r>
            <a:r>
              <a:rPr lang="en-US" dirty="0"/>
              <a:t> (RabbitMQ), </a:t>
            </a:r>
            <a:r>
              <a:rPr lang="en-US" sz="1200" kern="1200" dirty="0" err="1">
                <a:solidFill>
                  <a:schemeClr val="tx1"/>
                </a:solidFill>
                <a:latin typeface="+mn-lt"/>
                <a:ea typeface="+mn-ea"/>
                <a:cs typeface="+mn-cs"/>
              </a:rPr>
              <a:t>celery</a:t>
            </a:r>
            <a:r>
              <a:rPr lang="en-US" b="1" dirty="0" err="1"/>
              <a:t>Computation</a:t>
            </a:r>
            <a:r>
              <a:rPr lang="en-US" b="1" dirty="0"/>
              <a:t>/</a:t>
            </a:r>
            <a:r>
              <a:rPr lang="en-US" b="1" dirty="0" err="1"/>
              <a:t>utility</a:t>
            </a:r>
            <a:r>
              <a:rPr lang="en-US" dirty="0" err="1"/>
              <a:t>NoEverything</a:t>
            </a:r>
            <a:r>
              <a:rPr lang="en-US" dirty="0"/>
              <a:t> else (default)</a:t>
            </a:r>
            <a:r>
              <a:rPr lang="en-US" b="1" dirty="0"/>
              <a:t>Dev/test </a:t>
            </a:r>
            <a:r>
              <a:rPr lang="en-US" b="1" dirty="0" err="1"/>
              <a:t>tooling</a:t>
            </a:r>
            <a:r>
              <a:rPr lang="en-US" dirty="0" err="1"/>
              <a:t>NoIn</a:t>
            </a:r>
            <a:r>
              <a:rPr lang="en-US" dirty="0"/>
              <a:t> </a:t>
            </a:r>
            <a:r>
              <a:rPr lang="en-US" sz="1200" kern="1200" dirty="0" err="1">
                <a:solidFill>
                  <a:schemeClr val="tx1"/>
                </a:solidFill>
                <a:latin typeface="+mn-lt"/>
                <a:ea typeface="+mn-ea"/>
                <a:cs typeface="+mn-cs"/>
              </a:rPr>
              <a:t>devDependencies</a:t>
            </a:r>
            <a:r>
              <a:rPr lang="en-US" dirty="0"/>
              <a:t> or </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tool.pytest</a:t>
            </a:r>
            <a:r>
              <a:rPr lang="en-US" sz="1200" kern="1200" dirty="0">
                <a:solidFill>
                  <a:schemeClr val="tx1"/>
                </a:solidFill>
                <a:latin typeface="+mn-lt"/>
                <a:ea typeface="+mn-ea"/>
                <a:cs typeface="+mn-cs"/>
              </a:rPr>
              <a:t>]</a:t>
            </a:r>
            <a:r>
              <a:rPr lang="en-US" dirty="0"/>
              <a:t> or known list</a:t>
            </a:r>
          </a:p>
          <a:p>
            <a:r>
              <a:rPr lang="en-US" dirty="0"/>
              <a:t>The cleanest deterministic pipeline would be:</a:t>
            </a:r>
          </a:p>
          <a:p>
            <a:r>
              <a:rPr lang="en-US" sz="1200" kern="1200" dirty="0">
                <a:solidFill>
                  <a:schemeClr val="tx1"/>
                </a:solidFill>
                <a:effectLst/>
                <a:latin typeface="+mn-lt"/>
                <a:ea typeface="+mn-ea"/>
                <a:cs typeface="+mn-cs"/>
              </a:rPr>
              <a:t>For each dependency in manifest:</a:t>
            </a:r>
          </a:p>
          <a:p>
            <a:r>
              <a:rPr lang="en-US" sz="1200" kern="1200" dirty="0">
                <a:solidFill>
                  <a:schemeClr val="tx1"/>
                </a:solidFill>
                <a:effectLst/>
                <a:latin typeface="+mn-lt"/>
                <a:ea typeface="+mn-ea"/>
                <a:cs typeface="+mn-cs"/>
              </a:rPr>
              <a:t>  1. Is it in dev-only section? → skip</a:t>
            </a:r>
          </a:p>
          <a:p>
            <a:r>
              <a:rPr lang="en-US" sz="1200" kern="1200" dirty="0">
                <a:solidFill>
                  <a:schemeClr val="tx1"/>
                </a:solidFill>
                <a:effectLst/>
                <a:latin typeface="+mn-lt"/>
                <a:ea typeface="+mn-ea"/>
                <a:cs typeface="+mn-cs"/>
              </a:rPr>
              <a:t>  2. Match against curated SDK map → emit external system</a:t>
            </a:r>
          </a:p>
          <a:p>
            <a:r>
              <a:rPr lang="en-US" sz="1200" kern="1200" dirty="0">
                <a:solidFill>
                  <a:schemeClr val="tx1"/>
                </a:solidFill>
                <a:effectLst/>
                <a:latin typeface="+mn-lt"/>
                <a:ea typeface="+mn-ea"/>
                <a:cs typeface="+mn-cs"/>
              </a:rPr>
              <a:t>  3. Match against DB driver list → emit L2 container (not L1 external)</a:t>
            </a:r>
          </a:p>
          <a:p>
            <a:r>
              <a:rPr lang="en-US" sz="1200" kern="1200" dirty="0">
                <a:solidFill>
                  <a:schemeClr val="tx1"/>
                </a:solidFill>
                <a:effectLst/>
                <a:latin typeface="+mn-lt"/>
                <a:ea typeface="+mn-ea"/>
                <a:cs typeface="+mn-cs"/>
              </a:rPr>
              <a:t>  4. Match against broker client list → emit L2 container</a:t>
            </a:r>
          </a:p>
          <a:p>
            <a:r>
              <a:rPr lang="en-US" sz="1200" kern="1200" dirty="0">
                <a:solidFill>
                  <a:schemeClr val="tx1"/>
                </a:solidFill>
                <a:effectLst/>
                <a:latin typeface="+mn-lt"/>
                <a:ea typeface="+mn-ea"/>
                <a:cs typeface="+mn-cs"/>
              </a:rPr>
              <a:t>  5. Match cloud provider prefix (</a:t>
            </a:r>
            <a:r>
              <a:rPr lang="en-US" sz="1200" kern="1200" dirty="0" err="1">
                <a:solidFill>
                  <a:schemeClr val="tx1"/>
                </a:solidFill>
                <a:effectLst/>
                <a:latin typeface="+mn-lt"/>
                <a:ea typeface="+mn-ea"/>
                <a:cs typeface="+mn-cs"/>
              </a:rPr>
              <a:t>aws</a:t>
            </a:r>
            <a:r>
              <a:rPr lang="en-US" sz="1200" kern="1200" dirty="0">
                <a:solidFill>
                  <a:schemeClr val="tx1"/>
                </a:solidFill>
                <a:effectLst/>
                <a:latin typeface="+mn-lt"/>
                <a:ea typeface="+mn-ea"/>
                <a:cs typeface="+mn-cs"/>
              </a:rPr>
              <a:t>-*, azure-*, google-cloud-*) → emit external system with inferred service</a:t>
            </a:r>
          </a:p>
          <a:p>
            <a:r>
              <a:rPr lang="en-US" sz="1200" kern="1200" dirty="0">
                <a:solidFill>
                  <a:schemeClr val="tx1"/>
                </a:solidFill>
                <a:effectLst/>
                <a:latin typeface="+mn-lt"/>
                <a:ea typeface="+mn-ea"/>
                <a:cs typeface="+mn-cs"/>
              </a:rPr>
              <a:t>  6. (Optional) Fetch package metadata from registry, check description for "client/SDK/API" patterns → emit candidate</a:t>
            </a:r>
          </a:p>
          <a:p>
            <a:r>
              <a:rPr lang="en-US" sz="1200" kern="1200" dirty="0">
                <a:solidFill>
                  <a:schemeClr val="tx1"/>
                </a:solidFill>
                <a:effectLst/>
                <a:latin typeface="+mn-lt"/>
                <a:ea typeface="+mn-ea"/>
                <a:cs typeface="+mn-cs"/>
              </a:rPr>
              <a:t>  7. Everything else → tech stack label, not an external system</a:t>
            </a:r>
          </a:p>
          <a:p>
            <a:r>
              <a:rPr lang="en-US" dirty="0"/>
              <a:t>Steps 1 through 5 are fully deterministic. Step 6 is deterministic too but requires network access to the package registry, which you may or may not want.</a:t>
            </a:r>
          </a:p>
          <a:p>
            <a:r>
              <a:rPr lang="en-US" dirty="0"/>
              <a:t>The key insight for your thesis: </a:t>
            </a:r>
            <a:r>
              <a:rPr lang="en-US" b="1" dirty="0"/>
              <a:t>the mapping is finite and maintainable</a:t>
            </a:r>
            <a:r>
              <a:rPr lang="en-US" dirty="0"/>
              <a:t> because the number of external services people actually integrate with is much smaller than the number of libraries. There are maybe 500 distinct external services in common use (cloud providers, payment, email, auth, monitoring, analytics, CRM, etc.), and each has 1 to 3 SDK libraries per language. A curated map of ~1500 entries across Python/</a:t>
            </a:r>
            <a:r>
              <a:rPr lang="en-US" dirty="0" err="1"/>
              <a:t>npm</a:t>
            </a:r>
            <a:r>
              <a:rPr lang="en-US" dirty="0"/>
              <a:t>/NuGet/Maven covers the vast majority of real-world projects. The long tail of obscure integrations is where LLM enrichment picks up the slack, which is why your pipeline already has LLM as an optional second pass.</a:t>
            </a:r>
          </a:p>
          <a:p>
            <a:r>
              <a:rPr lang="en-US" dirty="0"/>
              <a:t>The one genuinely hard edge case: </a:t>
            </a:r>
            <a:r>
              <a:rPr lang="en-US" b="1" dirty="0"/>
              <a:t>generic HTTP client libraries</a:t>
            </a:r>
            <a:r>
              <a:rPr lang="en-US" dirty="0"/>
              <a:t> like </a:t>
            </a:r>
            <a:r>
              <a:rPr lang="en-US" sz="1200" kern="1200" dirty="0">
                <a:solidFill>
                  <a:schemeClr val="tx1"/>
                </a:solidFill>
                <a:latin typeface="+mn-lt"/>
                <a:ea typeface="+mn-ea"/>
                <a:cs typeface="+mn-cs"/>
              </a:rPr>
              <a:t>requests</a:t>
            </a:r>
            <a:r>
              <a:rPr lang="en-US" dirty="0"/>
              <a:t>, </a:t>
            </a:r>
            <a:r>
              <a:rPr lang="en-US" sz="1200" kern="1200" dirty="0" err="1">
                <a:solidFill>
                  <a:schemeClr val="tx1"/>
                </a:solidFill>
                <a:latin typeface="+mn-lt"/>
                <a:ea typeface="+mn-ea"/>
                <a:cs typeface="+mn-cs"/>
              </a:rPr>
              <a:t>axios</a:t>
            </a:r>
            <a:r>
              <a:rPr lang="en-US" dirty="0"/>
              <a:t>, </a:t>
            </a:r>
            <a:r>
              <a:rPr lang="en-US" sz="1200" kern="1200" dirty="0" err="1">
                <a:solidFill>
                  <a:schemeClr val="tx1"/>
                </a:solidFill>
                <a:latin typeface="+mn-lt"/>
                <a:ea typeface="+mn-ea"/>
                <a:cs typeface="+mn-cs"/>
              </a:rPr>
              <a:t>httpx</a:t>
            </a:r>
            <a:r>
              <a:rPr lang="en-US" dirty="0"/>
              <a:t>. These imply the code talks to something external, but you can't know what from the dependency alone. That's where your env file / URL scanning in </a:t>
            </a:r>
            <a:r>
              <a:rPr lang="en-US" dirty="0" err="1"/>
              <a:t>DependencyDetector</a:t>
            </a:r>
            <a:r>
              <a:rPr lang="en-US" dirty="0"/>
              <a:t> comes in. The library itself isn't the signal. The URLs in config are.</a:t>
            </a:r>
          </a:p>
          <a:p>
            <a:endParaRPr lang="en-US" dirty="0"/>
          </a:p>
        </p:txBody>
      </p:sp>
    </p:spTree>
    <p:extLst>
      <p:ext uri="{BB962C8B-B14F-4D97-AF65-F5344CB8AC3E}">
        <p14:creationId xmlns:p14="http://schemas.microsoft.com/office/powerpoint/2010/main" val="13053224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dirty="0"/>
          </a:p>
        </p:txBody>
      </p:sp>
    </p:spTree>
    <p:extLst>
      <p:ext uri="{BB962C8B-B14F-4D97-AF65-F5344CB8AC3E}">
        <p14:creationId xmlns:p14="http://schemas.microsoft.com/office/powerpoint/2010/main" val="7307063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txBody>
          <a:bodyPr/>
          <a:lstStyle/>
          <a:p>
            <a:endParaRPr lang="en-US"/>
          </a:p>
        </p:txBody>
      </p:sp>
      <p:sp>
        <p:nvSpPr>
          <p:cNvPr id="3" name="Text 1"/>
          <p:cNvSpPr/>
          <p:nvPr/>
        </p:nvSpPr>
        <p:spPr>
          <a:xfrm>
            <a:off x="731520" y="1005840"/>
            <a:ext cx="7680960" cy="1097280"/>
          </a:xfrm>
          <a:prstGeom prst="rect">
            <a:avLst/>
          </a:prstGeom>
          <a:noFill/>
          <a:ln/>
        </p:spPr>
        <p:txBody>
          <a:bodyPr wrap="square" lIns="0" tIns="0" rIns="0" bIns="0" rtlCol="0" anchor="ctr"/>
          <a:lstStyle/>
          <a:p>
            <a:pPr marL="0" indent="0">
              <a:buNone/>
            </a:pPr>
            <a:r>
              <a:rPr lang="en-US" sz="4200" b="1" dirty="0">
                <a:solidFill>
                  <a:srgbClr val="FFFFFF"/>
                </a:solidFill>
                <a:latin typeface="Trebuchet MS" pitchFamily="34" charset="0"/>
                <a:ea typeface="Trebuchet MS" pitchFamily="34" charset="-122"/>
                <a:cs typeface="Trebuchet MS" pitchFamily="34" charset="-120"/>
              </a:rPr>
              <a:t>C4 Architecture Model</a:t>
            </a:r>
            <a:endParaRPr lang="en-US" sz="4200" dirty="0"/>
          </a:p>
        </p:txBody>
      </p:sp>
      <p:sp>
        <p:nvSpPr>
          <p:cNvPr id="4" name="Text 2"/>
          <p:cNvSpPr/>
          <p:nvPr/>
        </p:nvSpPr>
        <p:spPr>
          <a:xfrm>
            <a:off x="731520" y="2011680"/>
            <a:ext cx="7680960" cy="640080"/>
          </a:xfrm>
          <a:prstGeom prst="rect">
            <a:avLst/>
          </a:prstGeom>
          <a:noFill/>
          <a:ln/>
        </p:spPr>
        <p:txBody>
          <a:bodyPr wrap="square" lIns="0" tIns="0" rIns="0" bIns="0" rtlCol="0" anchor="ctr"/>
          <a:lstStyle/>
          <a:p>
            <a:pPr marL="0" indent="0">
              <a:buNone/>
            </a:pPr>
            <a:r>
              <a:rPr lang="en-US" sz="2200" dirty="0">
                <a:solidFill>
                  <a:srgbClr val="22D3EE"/>
                </a:solidFill>
                <a:latin typeface="Calibri" pitchFamily="34" charset="0"/>
                <a:ea typeface="Calibri" pitchFamily="34" charset="-122"/>
                <a:cs typeface="Calibri" pitchFamily="34" charset="-120"/>
              </a:rPr>
              <a:t>Level Reference + KnowledgeForge Extraction</a:t>
            </a:r>
            <a:endParaRPr lang="en-US" sz="2200" dirty="0"/>
          </a:p>
        </p:txBody>
      </p:sp>
      <p:sp>
        <p:nvSpPr>
          <p:cNvPr id="5" name="Text 3"/>
          <p:cNvSpPr/>
          <p:nvPr/>
        </p:nvSpPr>
        <p:spPr>
          <a:xfrm>
            <a:off x="731520" y="2926080"/>
            <a:ext cx="7680960" cy="457200"/>
          </a:xfrm>
          <a:prstGeom prst="rect">
            <a:avLst/>
          </a:prstGeom>
          <a:noFill/>
          <a:ln/>
        </p:spPr>
        <p:txBody>
          <a:bodyPr wrap="square" lIns="0" tIns="0" rIns="0" bIns="0" rtlCol="0" anchor="ctr"/>
          <a:lstStyle/>
          <a:p>
            <a:pPr marL="0" indent="0">
              <a:buNone/>
            </a:pPr>
            <a:r>
              <a:rPr lang="en-US" sz="1600" dirty="0">
                <a:solidFill>
                  <a:srgbClr val="64748B"/>
                </a:solidFill>
                <a:latin typeface="Calibri" pitchFamily="34" charset="0"/>
                <a:ea typeface="Calibri" pitchFamily="34" charset="-122"/>
                <a:cs typeface="Calibri" pitchFamily="34" charset="-120"/>
              </a:rPr>
              <a:t>Context  ·  Container  ·  Component</a:t>
            </a:r>
            <a:endParaRPr lang="en-US" sz="1600" dirty="0"/>
          </a:p>
        </p:txBody>
      </p:sp>
      <p:sp>
        <p:nvSpPr>
          <p:cNvPr id="6" name="Shape 4"/>
          <p:cNvSpPr/>
          <p:nvPr/>
        </p:nvSpPr>
        <p:spPr>
          <a:xfrm>
            <a:off x="731520" y="3749040"/>
            <a:ext cx="365760" cy="365760"/>
          </a:xfrm>
          <a:prstGeom prst="rect">
            <a:avLst/>
          </a:prstGeom>
          <a:solidFill>
            <a:srgbClr val="0891B2"/>
          </a:solidFill>
          <a:ln/>
        </p:spPr>
        <p:txBody>
          <a:bodyPr/>
          <a:lstStyle/>
          <a:p>
            <a:endParaRPr lang="en-US"/>
          </a:p>
        </p:txBody>
      </p:sp>
      <p:sp>
        <p:nvSpPr>
          <p:cNvPr id="7" name="Shape 5"/>
          <p:cNvSpPr/>
          <p:nvPr/>
        </p:nvSpPr>
        <p:spPr>
          <a:xfrm>
            <a:off x="1234440" y="3749040"/>
            <a:ext cx="365760" cy="365760"/>
          </a:xfrm>
          <a:prstGeom prst="rect">
            <a:avLst/>
          </a:prstGeom>
          <a:solidFill>
            <a:srgbClr val="059669"/>
          </a:solidFill>
          <a:ln/>
        </p:spPr>
        <p:txBody>
          <a:bodyPr/>
          <a:lstStyle/>
          <a:p>
            <a:endParaRPr lang="en-US"/>
          </a:p>
        </p:txBody>
      </p:sp>
      <p:sp>
        <p:nvSpPr>
          <p:cNvPr id="8" name="Shape 6"/>
          <p:cNvSpPr/>
          <p:nvPr/>
        </p:nvSpPr>
        <p:spPr>
          <a:xfrm>
            <a:off x="1737360" y="3749040"/>
            <a:ext cx="365760" cy="365760"/>
          </a:xfrm>
          <a:prstGeom prst="rect">
            <a:avLst/>
          </a:prstGeom>
          <a:solidFill>
            <a:srgbClr val="7C3AED"/>
          </a:solidFill>
          <a:ln/>
        </p:spPr>
        <p:txBody>
          <a:bodyPr/>
          <a:lstStyle/>
          <a:p>
            <a:endParaRPr lang="en-US"/>
          </a:p>
        </p:txBody>
      </p:sp>
      <p:sp>
        <p:nvSpPr>
          <p:cNvPr id="9" name="Text 7"/>
          <p:cNvSpPr/>
          <p:nvPr/>
        </p:nvSpPr>
        <p:spPr>
          <a:xfrm>
            <a:off x="731520" y="4434840"/>
            <a:ext cx="7680960" cy="32004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KnowledgeForge Thesis Reference  ·  March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640080" y="320040"/>
            <a:ext cx="7863840" cy="548640"/>
          </a:xfrm>
          <a:prstGeom prst="rect">
            <a:avLst/>
          </a:prstGeom>
          <a:noFill/>
          <a:ln/>
        </p:spPr>
        <p:txBody>
          <a:bodyPr wrap="square" lIns="0" tIns="0" rIns="0" bIns="0" rtlCol="0" anchor="ctr"/>
          <a:lstStyle/>
          <a:p>
            <a:pPr marL="0" indent="0">
              <a:buNone/>
            </a:pPr>
            <a:r>
              <a:rPr lang="en-US" sz="2800" b="1" dirty="0">
                <a:solidFill>
                  <a:srgbClr val="1B2A4A"/>
                </a:solidFill>
                <a:latin typeface="Trebuchet MS" pitchFamily="34" charset="0"/>
                <a:ea typeface="Trebuchet MS" pitchFamily="34" charset="-122"/>
                <a:cs typeface="Trebuchet MS" pitchFamily="34" charset="-120"/>
              </a:rPr>
              <a:t>Three Levels of Abstraction</a:t>
            </a:r>
            <a:endParaRPr lang="en-US" sz="2800" dirty="0"/>
          </a:p>
        </p:txBody>
      </p:sp>
      <p:sp>
        <p:nvSpPr>
          <p:cNvPr id="3" name="Text 1"/>
          <p:cNvSpPr/>
          <p:nvPr/>
        </p:nvSpPr>
        <p:spPr>
          <a:xfrm>
            <a:off x="640080" y="822960"/>
            <a:ext cx="7863840" cy="3657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Each level zooms deeper, serving a different audience and answering a different question.</a:t>
            </a:r>
            <a:endParaRPr lang="en-US" sz="1200" dirty="0"/>
          </a:p>
        </p:txBody>
      </p:sp>
      <p:sp>
        <p:nvSpPr>
          <p:cNvPr id="4" name="Shape 2"/>
          <p:cNvSpPr/>
          <p:nvPr/>
        </p:nvSpPr>
        <p:spPr>
          <a:xfrm>
            <a:off x="640080" y="1371600"/>
            <a:ext cx="2514600" cy="33832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5" name="Shape 3"/>
          <p:cNvSpPr/>
          <p:nvPr/>
        </p:nvSpPr>
        <p:spPr>
          <a:xfrm>
            <a:off x="640080" y="1371600"/>
            <a:ext cx="2514600" cy="64008"/>
          </a:xfrm>
          <a:prstGeom prst="rect">
            <a:avLst/>
          </a:prstGeom>
          <a:solidFill>
            <a:srgbClr val="0891B2"/>
          </a:solidFill>
          <a:ln/>
        </p:spPr>
        <p:txBody>
          <a:bodyPr/>
          <a:lstStyle/>
          <a:p>
            <a:endParaRPr lang="en-US"/>
          </a:p>
        </p:txBody>
      </p:sp>
      <p:sp>
        <p:nvSpPr>
          <p:cNvPr id="6" name="Shape 4"/>
          <p:cNvSpPr/>
          <p:nvPr/>
        </p:nvSpPr>
        <p:spPr>
          <a:xfrm>
            <a:off x="822960" y="1600200"/>
            <a:ext cx="1463040" cy="292608"/>
          </a:xfrm>
          <a:prstGeom prst="rect">
            <a:avLst/>
          </a:prstGeom>
          <a:solidFill>
            <a:srgbClr val="ECFEFF"/>
          </a:solidFill>
          <a:ln/>
        </p:spPr>
        <p:txBody>
          <a:bodyPr/>
          <a:lstStyle/>
          <a:p>
            <a:endParaRPr lang="en-US"/>
          </a:p>
        </p:txBody>
      </p:sp>
      <p:sp>
        <p:nvSpPr>
          <p:cNvPr id="7" name="Text 5"/>
          <p:cNvSpPr/>
          <p:nvPr/>
        </p:nvSpPr>
        <p:spPr>
          <a:xfrm>
            <a:off x="822960" y="1600200"/>
            <a:ext cx="1463040" cy="292608"/>
          </a:xfrm>
          <a:prstGeom prst="rect">
            <a:avLst/>
          </a:prstGeom>
          <a:noFill/>
          <a:ln/>
        </p:spPr>
        <p:txBody>
          <a:bodyPr wrap="square" lIns="0" tIns="0" rIns="0" bIns="0" rtlCol="0" anchor="ctr"/>
          <a:lstStyle/>
          <a:p>
            <a:pPr marL="0" indent="0" algn="ctr">
              <a:buNone/>
            </a:pPr>
            <a:r>
              <a:rPr lang="en-US" sz="1100" b="1" dirty="0">
                <a:solidFill>
                  <a:srgbClr val="0891B2"/>
                </a:solidFill>
                <a:latin typeface="Trebuchet MS" pitchFamily="34" charset="0"/>
                <a:ea typeface="Trebuchet MS" pitchFamily="34" charset="-122"/>
                <a:cs typeface="Trebuchet MS" pitchFamily="34" charset="-120"/>
              </a:rPr>
              <a:t>L1: Context</a:t>
            </a:r>
            <a:endParaRPr lang="en-US" sz="1100" dirty="0"/>
          </a:p>
        </p:txBody>
      </p:sp>
      <p:sp>
        <p:nvSpPr>
          <p:cNvPr id="8" name="Text 6"/>
          <p:cNvSpPr/>
          <p:nvPr/>
        </p:nvSpPr>
        <p:spPr>
          <a:xfrm>
            <a:off x="822960" y="2057400"/>
            <a:ext cx="2148840" cy="777240"/>
          </a:xfrm>
          <a:prstGeom prst="rect">
            <a:avLst/>
          </a:prstGeom>
          <a:noFill/>
          <a:ln/>
        </p:spPr>
        <p:txBody>
          <a:bodyPr wrap="square" lIns="0" tIns="0" rIns="0" bIns="0" rtlCol="0" anchor="t"/>
          <a:lstStyle/>
          <a:p>
            <a:pPr marL="0" indent="0">
              <a:buNone/>
            </a:pPr>
            <a:r>
              <a:rPr lang="en-US" sz="1000" b="1" dirty="0">
                <a:solidFill>
                  <a:srgbClr val="64748B"/>
                </a:solidFill>
                <a:latin typeface="Calibri" pitchFamily="34" charset="0"/>
                <a:ea typeface="Calibri" pitchFamily="34" charset="-122"/>
                <a:cs typeface="Calibri" pitchFamily="34" charset="-120"/>
              </a:rPr>
              <a:t>Question</a:t>
            </a:r>
            <a:endParaRPr lang="en-US" sz="1000" dirty="0"/>
          </a:p>
          <a:p>
            <a:pPr marL="0" indent="0">
              <a:buNone/>
            </a:pPr>
            <a:r>
              <a:rPr lang="en-US" sz="1200" dirty="0">
                <a:solidFill>
                  <a:srgbClr val="0F172A"/>
                </a:solidFill>
                <a:latin typeface="Calibri" pitchFamily="34" charset="0"/>
                <a:ea typeface="Calibri" pitchFamily="34" charset="-122"/>
                <a:cs typeface="Calibri" pitchFamily="34" charset="-120"/>
              </a:rPr>
              <a:t>What does the system do and who uses it?</a:t>
            </a:r>
            <a:endParaRPr lang="en-US" sz="1000" dirty="0"/>
          </a:p>
        </p:txBody>
      </p:sp>
      <p:sp>
        <p:nvSpPr>
          <p:cNvPr id="9" name="Text 7"/>
          <p:cNvSpPr/>
          <p:nvPr/>
        </p:nvSpPr>
        <p:spPr>
          <a:xfrm>
            <a:off x="822960" y="2926080"/>
            <a:ext cx="2148840" cy="502920"/>
          </a:xfrm>
          <a:prstGeom prst="rect">
            <a:avLst/>
          </a:prstGeom>
          <a:noFill/>
          <a:ln/>
        </p:spPr>
        <p:txBody>
          <a:bodyPr wrap="square" lIns="0" tIns="0" rIns="0" bIns="0" rtlCol="0" anchor="t"/>
          <a:lstStyle/>
          <a:p>
            <a:pPr marL="0" indent="0">
              <a:buNone/>
            </a:pPr>
            <a:r>
              <a:rPr lang="en-US" sz="1000" b="1" dirty="0">
                <a:solidFill>
                  <a:srgbClr val="64748B"/>
                </a:solidFill>
                <a:latin typeface="Calibri" pitchFamily="34" charset="0"/>
                <a:ea typeface="Calibri" pitchFamily="34" charset="-122"/>
                <a:cs typeface="Calibri" pitchFamily="34" charset="-120"/>
              </a:rPr>
              <a:t>Audience</a:t>
            </a:r>
            <a:endParaRPr lang="en-US" sz="1000" dirty="0"/>
          </a:p>
          <a:p>
            <a:r>
              <a:rPr lang="en-US" sz="1200" dirty="0"/>
              <a:t>C-level, product, external stakeholders</a:t>
            </a:r>
            <a:endParaRPr lang="en-US" sz="1000" dirty="0"/>
          </a:p>
        </p:txBody>
      </p:sp>
      <p:sp>
        <p:nvSpPr>
          <p:cNvPr id="10" name="Text 8"/>
          <p:cNvSpPr/>
          <p:nvPr/>
        </p:nvSpPr>
        <p:spPr>
          <a:xfrm>
            <a:off x="822960" y="3682138"/>
            <a:ext cx="2148840" cy="822960"/>
          </a:xfrm>
          <a:prstGeom prst="rect">
            <a:avLst/>
          </a:prstGeom>
          <a:noFill/>
          <a:ln/>
        </p:spPr>
        <p:txBody>
          <a:bodyPr wrap="square" lIns="0" tIns="0" rIns="0" bIns="0" rtlCol="0" anchor="t"/>
          <a:lstStyle/>
          <a:p>
            <a:pPr marL="0" indent="0">
              <a:buNone/>
            </a:pPr>
            <a:r>
              <a:rPr lang="en-US" sz="1000" b="1" dirty="0">
                <a:solidFill>
                  <a:srgbClr val="64748B"/>
                </a:solidFill>
                <a:latin typeface="Calibri" pitchFamily="34" charset="0"/>
                <a:ea typeface="Calibri" pitchFamily="34" charset="-122"/>
                <a:cs typeface="Calibri" pitchFamily="34" charset="-120"/>
              </a:rPr>
              <a:t>Shows</a:t>
            </a:r>
            <a:endParaRPr lang="en-US" sz="1000" dirty="0"/>
          </a:p>
          <a:p>
            <a:pPr marL="0" indent="0">
              <a:buNone/>
            </a:pPr>
            <a:r>
              <a:rPr lang="en-US" sz="1200" dirty="0">
                <a:solidFill>
                  <a:srgbClr val="0F172A"/>
                </a:solidFill>
                <a:latin typeface="Calibri" pitchFamily="34" charset="0"/>
                <a:ea typeface="Calibri" pitchFamily="34" charset="-122"/>
                <a:cs typeface="Calibri" pitchFamily="34" charset="-120"/>
              </a:rPr>
              <a:t>System as a black box + users + external systems</a:t>
            </a:r>
            <a:endParaRPr lang="en-US" sz="1000" dirty="0"/>
          </a:p>
        </p:txBody>
      </p:sp>
      <p:sp>
        <p:nvSpPr>
          <p:cNvPr id="11" name="Shape 9"/>
          <p:cNvSpPr/>
          <p:nvPr/>
        </p:nvSpPr>
        <p:spPr>
          <a:xfrm>
            <a:off x="3429000" y="1371600"/>
            <a:ext cx="2514600" cy="33832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2" name="Shape 10"/>
          <p:cNvSpPr/>
          <p:nvPr/>
        </p:nvSpPr>
        <p:spPr>
          <a:xfrm>
            <a:off x="3429000" y="1371600"/>
            <a:ext cx="2514600" cy="64008"/>
          </a:xfrm>
          <a:prstGeom prst="rect">
            <a:avLst/>
          </a:prstGeom>
          <a:solidFill>
            <a:srgbClr val="059669"/>
          </a:solidFill>
          <a:ln/>
        </p:spPr>
        <p:txBody>
          <a:bodyPr/>
          <a:lstStyle/>
          <a:p>
            <a:endParaRPr lang="en-US"/>
          </a:p>
        </p:txBody>
      </p:sp>
      <p:sp>
        <p:nvSpPr>
          <p:cNvPr id="13" name="Shape 11"/>
          <p:cNvSpPr/>
          <p:nvPr/>
        </p:nvSpPr>
        <p:spPr>
          <a:xfrm>
            <a:off x="3611880" y="1600200"/>
            <a:ext cx="1463040" cy="292608"/>
          </a:xfrm>
          <a:prstGeom prst="rect">
            <a:avLst/>
          </a:prstGeom>
          <a:solidFill>
            <a:srgbClr val="D1FAE5"/>
          </a:solidFill>
          <a:ln/>
        </p:spPr>
        <p:txBody>
          <a:bodyPr/>
          <a:lstStyle/>
          <a:p>
            <a:endParaRPr lang="en-US"/>
          </a:p>
        </p:txBody>
      </p:sp>
      <p:sp>
        <p:nvSpPr>
          <p:cNvPr id="14" name="Text 12"/>
          <p:cNvSpPr/>
          <p:nvPr/>
        </p:nvSpPr>
        <p:spPr>
          <a:xfrm>
            <a:off x="3611880" y="1600200"/>
            <a:ext cx="1463040" cy="292608"/>
          </a:xfrm>
          <a:prstGeom prst="rect">
            <a:avLst/>
          </a:prstGeom>
          <a:noFill/>
          <a:ln/>
        </p:spPr>
        <p:txBody>
          <a:bodyPr wrap="square" lIns="0" tIns="0" rIns="0" bIns="0" rtlCol="0" anchor="ctr"/>
          <a:lstStyle/>
          <a:p>
            <a:pPr marL="0" indent="0" algn="ctr">
              <a:buNone/>
            </a:pPr>
            <a:r>
              <a:rPr lang="en-US" sz="1100" b="1" dirty="0">
                <a:solidFill>
                  <a:srgbClr val="059669"/>
                </a:solidFill>
                <a:latin typeface="Trebuchet MS" pitchFamily="34" charset="0"/>
                <a:ea typeface="Trebuchet MS" pitchFamily="34" charset="-122"/>
                <a:cs typeface="Trebuchet MS" pitchFamily="34" charset="-120"/>
              </a:rPr>
              <a:t>L2: Container</a:t>
            </a:r>
            <a:endParaRPr lang="en-US" sz="1100" dirty="0"/>
          </a:p>
        </p:txBody>
      </p:sp>
      <p:sp>
        <p:nvSpPr>
          <p:cNvPr id="15" name="Text 13"/>
          <p:cNvSpPr/>
          <p:nvPr/>
        </p:nvSpPr>
        <p:spPr>
          <a:xfrm>
            <a:off x="3611880" y="2057400"/>
            <a:ext cx="2148840" cy="777240"/>
          </a:xfrm>
          <a:prstGeom prst="rect">
            <a:avLst/>
          </a:prstGeom>
          <a:noFill/>
          <a:ln/>
        </p:spPr>
        <p:txBody>
          <a:bodyPr wrap="square" lIns="0" tIns="0" rIns="0" bIns="0" rtlCol="0" anchor="t"/>
          <a:lstStyle/>
          <a:p>
            <a:pPr marL="0" indent="0">
              <a:buNone/>
            </a:pPr>
            <a:r>
              <a:rPr lang="en-US" sz="1000" b="1" dirty="0">
                <a:solidFill>
                  <a:srgbClr val="64748B"/>
                </a:solidFill>
                <a:latin typeface="Calibri" pitchFamily="34" charset="0"/>
                <a:ea typeface="Calibri" pitchFamily="34" charset="-122"/>
                <a:cs typeface="Calibri" pitchFamily="34" charset="-120"/>
              </a:rPr>
              <a:t>Question</a:t>
            </a:r>
            <a:endParaRPr lang="en-US" sz="1000" dirty="0"/>
          </a:p>
          <a:p>
            <a:pPr marL="0" indent="0">
              <a:buNone/>
            </a:pPr>
            <a:r>
              <a:rPr lang="en-US" sz="1200" dirty="0">
                <a:solidFill>
                  <a:srgbClr val="0F172A"/>
                </a:solidFill>
                <a:latin typeface="Calibri" pitchFamily="34" charset="0"/>
                <a:ea typeface="Calibri" pitchFamily="34" charset="-122"/>
                <a:cs typeface="Calibri" pitchFamily="34" charset="-120"/>
              </a:rPr>
              <a:t>What are the major deployable / runnable units?</a:t>
            </a:r>
            <a:endParaRPr lang="en-US" sz="1000" dirty="0"/>
          </a:p>
        </p:txBody>
      </p:sp>
      <p:sp>
        <p:nvSpPr>
          <p:cNvPr id="16" name="Text 14"/>
          <p:cNvSpPr/>
          <p:nvPr/>
        </p:nvSpPr>
        <p:spPr>
          <a:xfrm>
            <a:off x="3611880" y="2926080"/>
            <a:ext cx="2148840" cy="502920"/>
          </a:xfrm>
          <a:prstGeom prst="rect">
            <a:avLst/>
          </a:prstGeom>
          <a:noFill/>
          <a:ln/>
        </p:spPr>
        <p:txBody>
          <a:bodyPr wrap="square" lIns="0" tIns="0" rIns="0" bIns="0" rtlCol="0" anchor="t"/>
          <a:lstStyle/>
          <a:p>
            <a:pPr marL="0" indent="0">
              <a:buNone/>
            </a:pPr>
            <a:r>
              <a:rPr lang="en-US" sz="1000" b="1" dirty="0">
                <a:solidFill>
                  <a:srgbClr val="64748B"/>
                </a:solidFill>
                <a:latin typeface="Calibri" pitchFamily="34" charset="0"/>
                <a:ea typeface="Calibri" pitchFamily="34" charset="-122"/>
                <a:cs typeface="Calibri" pitchFamily="34" charset="-120"/>
              </a:rPr>
              <a:t>Audience</a:t>
            </a:r>
            <a:endParaRPr lang="en-US" sz="1000" dirty="0"/>
          </a:p>
          <a:p>
            <a:r>
              <a:rPr lang="en-US" sz="1200" dirty="0"/>
              <a:t>Engineering leadership + architects + </a:t>
            </a:r>
            <a:r>
              <a:rPr lang="en-US" sz="1200" dirty="0" err="1"/>
              <a:t>devs</a:t>
            </a:r>
            <a:r>
              <a:rPr lang="en-US" sz="1200" dirty="0"/>
              <a:t>/ops</a:t>
            </a:r>
            <a:endParaRPr lang="en-US" sz="1000" dirty="0"/>
          </a:p>
        </p:txBody>
      </p:sp>
      <p:sp>
        <p:nvSpPr>
          <p:cNvPr id="17" name="Text 15"/>
          <p:cNvSpPr/>
          <p:nvPr/>
        </p:nvSpPr>
        <p:spPr>
          <a:xfrm>
            <a:off x="3611880" y="3682138"/>
            <a:ext cx="2148840" cy="822960"/>
          </a:xfrm>
          <a:prstGeom prst="rect">
            <a:avLst/>
          </a:prstGeom>
          <a:noFill/>
          <a:ln/>
        </p:spPr>
        <p:txBody>
          <a:bodyPr wrap="square" lIns="0" tIns="0" rIns="0" bIns="0" rtlCol="0" anchor="t"/>
          <a:lstStyle/>
          <a:p>
            <a:pPr marL="0" indent="0">
              <a:buNone/>
            </a:pPr>
            <a:r>
              <a:rPr lang="en-US" sz="1000" b="1" dirty="0">
                <a:solidFill>
                  <a:srgbClr val="64748B"/>
                </a:solidFill>
                <a:latin typeface="Calibri" pitchFamily="34" charset="0"/>
                <a:ea typeface="Calibri" pitchFamily="34" charset="-122"/>
                <a:cs typeface="Calibri" pitchFamily="34" charset="-120"/>
              </a:rPr>
              <a:t>Shows</a:t>
            </a:r>
            <a:endParaRPr lang="en-US" sz="1000" dirty="0"/>
          </a:p>
          <a:p>
            <a:pPr marL="0" indent="0">
              <a:buNone/>
            </a:pPr>
            <a:r>
              <a:rPr lang="en-US" sz="1200" dirty="0">
                <a:solidFill>
                  <a:srgbClr val="0F172A"/>
                </a:solidFill>
                <a:latin typeface="Calibri" pitchFamily="34" charset="0"/>
                <a:ea typeface="Calibri" pitchFamily="34" charset="-122"/>
                <a:cs typeface="Calibri" pitchFamily="34" charset="-120"/>
              </a:rPr>
              <a:t>Apps, databases, message brokers, APIs</a:t>
            </a:r>
            <a:endParaRPr lang="en-US" sz="1000" dirty="0"/>
          </a:p>
        </p:txBody>
      </p:sp>
      <p:sp>
        <p:nvSpPr>
          <p:cNvPr id="18" name="Shape 16"/>
          <p:cNvSpPr/>
          <p:nvPr/>
        </p:nvSpPr>
        <p:spPr>
          <a:xfrm>
            <a:off x="6217920" y="1371600"/>
            <a:ext cx="2514600" cy="33832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dirty="0"/>
          </a:p>
        </p:txBody>
      </p:sp>
      <p:sp>
        <p:nvSpPr>
          <p:cNvPr id="19" name="Shape 17"/>
          <p:cNvSpPr/>
          <p:nvPr/>
        </p:nvSpPr>
        <p:spPr>
          <a:xfrm>
            <a:off x="6217920" y="1371600"/>
            <a:ext cx="2514600" cy="64008"/>
          </a:xfrm>
          <a:prstGeom prst="rect">
            <a:avLst/>
          </a:prstGeom>
          <a:solidFill>
            <a:srgbClr val="7C3AED"/>
          </a:solidFill>
          <a:ln/>
        </p:spPr>
        <p:txBody>
          <a:bodyPr/>
          <a:lstStyle/>
          <a:p>
            <a:endParaRPr lang="en-US"/>
          </a:p>
        </p:txBody>
      </p:sp>
      <p:sp>
        <p:nvSpPr>
          <p:cNvPr id="20" name="Shape 18"/>
          <p:cNvSpPr/>
          <p:nvPr/>
        </p:nvSpPr>
        <p:spPr>
          <a:xfrm>
            <a:off x="6400800" y="1600200"/>
            <a:ext cx="1463040" cy="292608"/>
          </a:xfrm>
          <a:prstGeom prst="rect">
            <a:avLst/>
          </a:prstGeom>
          <a:solidFill>
            <a:srgbClr val="EDE9FE"/>
          </a:solidFill>
          <a:ln/>
        </p:spPr>
        <p:txBody>
          <a:bodyPr/>
          <a:lstStyle/>
          <a:p>
            <a:endParaRPr lang="en-US"/>
          </a:p>
        </p:txBody>
      </p:sp>
      <p:sp>
        <p:nvSpPr>
          <p:cNvPr id="21" name="Text 19"/>
          <p:cNvSpPr/>
          <p:nvPr/>
        </p:nvSpPr>
        <p:spPr>
          <a:xfrm>
            <a:off x="6400800" y="1600200"/>
            <a:ext cx="1463040" cy="292608"/>
          </a:xfrm>
          <a:prstGeom prst="rect">
            <a:avLst/>
          </a:prstGeom>
          <a:noFill/>
          <a:ln/>
        </p:spPr>
        <p:txBody>
          <a:bodyPr wrap="square" lIns="0" tIns="0" rIns="0" bIns="0" rtlCol="0" anchor="ctr"/>
          <a:lstStyle/>
          <a:p>
            <a:pPr marL="0" indent="0" algn="ctr">
              <a:buNone/>
            </a:pPr>
            <a:r>
              <a:rPr lang="en-US" sz="1100" b="1" dirty="0">
                <a:solidFill>
                  <a:srgbClr val="7C3AED"/>
                </a:solidFill>
                <a:latin typeface="Trebuchet MS" pitchFamily="34" charset="0"/>
                <a:ea typeface="Trebuchet MS" pitchFamily="34" charset="-122"/>
                <a:cs typeface="Trebuchet MS" pitchFamily="34" charset="-120"/>
              </a:rPr>
              <a:t>L3: Component</a:t>
            </a:r>
            <a:endParaRPr lang="en-US" sz="1100" dirty="0"/>
          </a:p>
        </p:txBody>
      </p:sp>
      <p:sp>
        <p:nvSpPr>
          <p:cNvPr id="22" name="Text 20"/>
          <p:cNvSpPr/>
          <p:nvPr/>
        </p:nvSpPr>
        <p:spPr>
          <a:xfrm>
            <a:off x="6400800" y="2057400"/>
            <a:ext cx="2148840" cy="777240"/>
          </a:xfrm>
          <a:prstGeom prst="rect">
            <a:avLst/>
          </a:prstGeom>
          <a:noFill/>
          <a:ln/>
        </p:spPr>
        <p:txBody>
          <a:bodyPr wrap="square" lIns="0" tIns="0" rIns="0" bIns="0" rtlCol="0" anchor="t"/>
          <a:lstStyle/>
          <a:p>
            <a:pPr marL="0" indent="0">
              <a:buNone/>
            </a:pPr>
            <a:r>
              <a:rPr lang="en-US" sz="1000" b="1" dirty="0">
                <a:solidFill>
                  <a:srgbClr val="64748B"/>
                </a:solidFill>
                <a:latin typeface="Calibri" pitchFamily="34" charset="0"/>
                <a:ea typeface="Calibri" pitchFamily="34" charset="-122"/>
                <a:cs typeface="Calibri" pitchFamily="34" charset="-120"/>
              </a:rPr>
              <a:t>Question</a:t>
            </a:r>
            <a:endParaRPr lang="en-US" sz="1000" dirty="0"/>
          </a:p>
          <a:p>
            <a:pPr marL="0" indent="0">
              <a:buNone/>
            </a:pPr>
            <a:r>
              <a:rPr lang="en-US" sz="1200" dirty="0">
                <a:solidFill>
                  <a:srgbClr val="0F172A"/>
                </a:solidFill>
                <a:latin typeface="Calibri" pitchFamily="34" charset="0"/>
                <a:ea typeface="Calibri" pitchFamily="34" charset="-122"/>
                <a:cs typeface="Calibri" pitchFamily="34" charset="-120"/>
              </a:rPr>
              <a:t>What are the key building blocks inside a container?</a:t>
            </a:r>
            <a:endParaRPr lang="en-US" sz="1000" dirty="0"/>
          </a:p>
        </p:txBody>
      </p:sp>
      <p:sp>
        <p:nvSpPr>
          <p:cNvPr id="23" name="Text 21"/>
          <p:cNvSpPr/>
          <p:nvPr/>
        </p:nvSpPr>
        <p:spPr>
          <a:xfrm>
            <a:off x="6400800" y="2926080"/>
            <a:ext cx="2148840" cy="502920"/>
          </a:xfrm>
          <a:prstGeom prst="rect">
            <a:avLst/>
          </a:prstGeom>
          <a:noFill/>
          <a:ln/>
        </p:spPr>
        <p:txBody>
          <a:bodyPr wrap="square" lIns="0" tIns="0" rIns="0" bIns="0" rtlCol="0" anchor="t"/>
          <a:lstStyle/>
          <a:p>
            <a:pPr marL="0" indent="0">
              <a:buNone/>
            </a:pPr>
            <a:r>
              <a:rPr lang="en-US" sz="1000" b="1" dirty="0">
                <a:solidFill>
                  <a:srgbClr val="64748B"/>
                </a:solidFill>
                <a:latin typeface="Calibri" pitchFamily="34" charset="0"/>
                <a:ea typeface="Calibri" pitchFamily="34" charset="-122"/>
                <a:cs typeface="Calibri" pitchFamily="34" charset="-120"/>
              </a:rPr>
              <a:t>Audience</a:t>
            </a:r>
            <a:endParaRPr lang="en-US" sz="1000" dirty="0"/>
          </a:p>
          <a:p>
            <a:r>
              <a:rPr lang="en-US" sz="1200" dirty="0"/>
              <a:t>Developers working inside a specific container</a:t>
            </a:r>
            <a:endParaRPr lang="en-US" sz="1000" dirty="0"/>
          </a:p>
        </p:txBody>
      </p:sp>
      <p:sp>
        <p:nvSpPr>
          <p:cNvPr id="24" name="Text 22"/>
          <p:cNvSpPr/>
          <p:nvPr/>
        </p:nvSpPr>
        <p:spPr>
          <a:xfrm>
            <a:off x="6400800" y="3682138"/>
            <a:ext cx="2148840" cy="822960"/>
          </a:xfrm>
          <a:prstGeom prst="rect">
            <a:avLst/>
          </a:prstGeom>
          <a:noFill/>
          <a:ln/>
        </p:spPr>
        <p:txBody>
          <a:bodyPr wrap="square" lIns="0" tIns="0" rIns="0" bIns="0" rtlCol="0" anchor="t"/>
          <a:lstStyle/>
          <a:p>
            <a:pPr marL="0" indent="0">
              <a:buNone/>
            </a:pPr>
            <a:r>
              <a:rPr lang="en-US" sz="1000" b="1" dirty="0">
                <a:solidFill>
                  <a:srgbClr val="64748B"/>
                </a:solidFill>
                <a:latin typeface="Calibri" pitchFamily="34" charset="0"/>
                <a:ea typeface="Calibri" pitchFamily="34" charset="-122"/>
                <a:cs typeface="Calibri" pitchFamily="34" charset="-120"/>
              </a:rPr>
              <a:t>Shows</a:t>
            </a:r>
            <a:endParaRPr lang="en-US" sz="1000" dirty="0"/>
          </a:p>
          <a:p>
            <a:pPr marL="0" indent="0">
              <a:buNone/>
            </a:pPr>
            <a:r>
              <a:rPr lang="en-US" sz="1200" dirty="0">
                <a:solidFill>
                  <a:srgbClr val="0F172A"/>
                </a:solidFill>
                <a:latin typeface="Calibri" pitchFamily="34" charset="0"/>
                <a:ea typeface="Calibri" pitchFamily="34" charset="-122"/>
                <a:cs typeface="Calibri" pitchFamily="34" charset="-120"/>
              </a:rPr>
              <a:t>Services, controllers, repos, modules</a:t>
            </a:r>
            <a:endParaRPr lang="en-US" sz="1000" dirty="0"/>
          </a:p>
        </p:txBody>
      </p:sp>
      <p:sp>
        <p:nvSpPr>
          <p:cNvPr id="25" name="Text 23"/>
          <p:cNvSpPr/>
          <p:nvPr/>
        </p:nvSpPr>
        <p:spPr>
          <a:xfrm>
            <a:off x="3154680" y="2651760"/>
            <a:ext cx="274320" cy="365760"/>
          </a:xfrm>
          <a:prstGeom prst="rect">
            <a:avLst/>
          </a:prstGeom>
          <a:noFill/>
          <a:ln/>
        </p:spPr>
        <p:txBody>
          <a:bodyPr wrap="square" rtlCol="0" anchor="ctr"/>
          <a:lstStyle/>
          <a:p>
            <a:pPr marL="0" indent="0" algn="ctr">
              <a:buNone/>
            </a:pPr>
            <a:endParaRPr lang="en-US" sz="1600" dirty="0"/>
          </a:p>
        </p:txBody>
      </p:sp>
      <p:sp>
        <p:nvSpPr>
          <p:cNvPr id="26" name="Text 24"/>
          <p:cNvSpPr/>
          <p:nvPr/>
        </p:nvSpPr>
        <p:spPr>
          <a:xfrm>
            <a:off x="5943600" y="2651760"/>
            <a:ext cx="274320" cy="365760"/>
          </a:xfrm>
          <a:prstGeom prst="rect">
            <a:avLst/>
          </a:prstGeom>
          <a:noFill/>
          <a:ln/>
        </p:spPr>
        <p:txBody>
          <a:bodyPr wrap="square" rtlCol="0" anchor="ctr"/>
          <a:lstStyle/>
          <a:p>
            <a:pPr marL="0" indent="0" algn="ctr">
              <a:buNone/>
            </a:pPr>
            <a:endParaRPr lang="en-US" sz="1600" dirty="0"/>
          </a:p>
        </p:txBody>
      </p:sp>
      <p:cxnSp>
        <p:nvCxnSpPr>
          <p:cNvPr id="28" name="Straight Arrow Connector 27">
            <a:extLst>
              <a:ext uri="{FF2B5EF4-FFF2-40B4-BE49-F238E27FC236}">
                <a16:creationId xmlns:a16="http://schemas.microsoft.com/office/drawing/2014/main" id="{5DD9241F-0C6E-FAAE-F212-9A791DB675F2}"/>
              </a:ext>
            </a:extLst>
          </p:cNvPr>
          <p:cNvCxnSpPr>
            <a:stCxn id="4" idx="3"/>
            <a:endCxn id="11" idx="1"/>
          </p:cNvCxnSpPr>
          <p:nvPr/>
        </p:nvCxnSpPr>
        <p:spPr>
          <a:xfrm>
            <a:off x="3154680" y="3063240"/>
            <a:ext cx="2743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D0283ACF-24BB-4AE6-8CFD-94DBAFBF8439}"/>
              </a:ext>
            </a:extLst>
          </p:cNvPr>
          <p:cNvCxnSpPr>
            <a:stCxn id="11" idx="3"/>
            <a:endCxn id="18" idx="1"/>
          </p:cNvCxnSpPr>
          <p:nvPr/>
        </p:nvCxnSpPr>
        <p:spPr>
          <a:xfrm>
            <a:off x="5943600" y="3063240"/>
            <a:ext cx="2743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txBody>
          <a:bodyPr/>
          <a:lstStyle/>
          <a:p>
            <a:endParaRPr lang="en-US"/>
          </a:p>
        </p:txBody>
      </p:sp>
      <p:sp>
        <p:nvSpPr>
          <p:cNvPr id="3" name="Text 1"/>
          <p:cNvSpPr/>
          <p:nvPr/>
        </p:nvSpPr>
        <p:spPr>
          <a:xfrm>
            <a:off x="640080" y="182880"/>
            <a:ext cx="4572000" cy="502920"/>
          </a:xfrm>
          <a:prstGeom prst="rect">
            <a:avLst/>
          </a:prstGeom>
          <a:noFill/>
          <a:ln/>
        </p:spPr>
        <p:txBody>
          <a:bodyPr wrap="square" lIns="0" tIns="0" rIns="0" bIns="0" rtlCol="0" anchor="ctr"/>
          <a:lstStyle/>
          <a:p>
            <a:pPr marL="0" indent="0">
              <a:buNone/>
            </a:pPr>
            <a:r>
              <a:rPr lang="en-US" sz="2600" b="1" dirty="0">
                <a:solidFill>
                  <a:srgbClr val="1B2A4A"/>
                </a:solidFill>
                <a:latin typeface="Trebuchet MS" pitchFamily="34" charset="0"/>
                <a:ea typeface="Trebuchet MS" pitchFamily="34" charset="-122"/>
                <a:cs typeface="Trebuchet MS" pitchFamily="34" charset="-120"/>
              </a:rPr>
              <a:t>Level 1: System Context</a:t>
            </a:r>
            <a:endParaRPr lang="en-US" sz="2600" dirty="0"/>
          </a:p>
        </p:txBody>
      </p:sp>
      <p:sp>
        <p:nvSpPr>
          <p:cNvPr id="4" name="Text 2"/>
          <p:cNvSpPr/>
          <p:nvPr/>
        </p:nvSpPr>
        <p:spPr>
          <a:xfrm>
            <a:off x="640080" y="777240"/>
            <a:ext cx="3840480" cy="3931920"/>
          </a:xfrm>
          <a:prstGeom prst="rect">
            <a:avLst/>
          </a:prstGeom>
          <a:noFill/>
          <a:ln/>
        </p:spPr>
        <p:txBody>
          <a:bodyPr wrap="square" lIns="0" tIns="0" rIns="0" bIns="0" rtlCol="0" anchor="t"/>
          <a:lstStyle/>
          <a:p>
            <a:pPr marL="0" indent="0">
              <a:buNone/>
            </a:pPr>
            <a:r>
              <a:rPr lang="en-US" sz="1300" b="1" dirty="0">
                <a:solidFill>
                  <a:srgbClr val="0891B2"/>
                </a:solidFill>
                <a:latin typeface="Calibri" pitchFamily="34" charset="0"/>
                <a:ea typeface="Calibri" pitchFamily="34" charset="-122"/>
                <a:cs typeface="Calibri" pitchFamily="34" charset="-120"/>
              </a:rPr>
              <a:t>Purpose</a:t>
            </a:r>
            <a:endParaRPr lang="en-US" sz="1300" dirty="0"/>
          </a:p>
          <a:p>
            <a:pPr marL="0" indent="0">
              <a:buNone/>
            </a:pPr>
            <a:r>
              <a:rPr lang="en-US" sz="1200" dirty="0">
                <a:solidFill>
                  <a:srgbClr val="334155"/>
                </a:solidFill>
                <a:latin typeface="Calibri" pitchFamily="34" charset="0"/>
                <a:ea typeface="Calibri" pitchFamily="34" charset="-122"/>
                <a:cs typeface="Calibri" pitchFamily="34" charset="-120"/>
              </a:rPr>
              <a:t>The big picture: system as a single box, surrounded by its users and external systems.</a:t>
            </a:r>
            <a:endParaRPr lang="en-US" sz="1300" dirty="0"/>
          </a:p>
          <a:p>
            <a:pPr marL="0" indent="0">
              <a:buNone/>
            </a:pPr>
            <a:endParaRPr lang="en-US" sz="1300" dirty="0"/>
          </a:p>
          <a:p>
            <a:pPr marL="0" indent="0">
              <a:buNone/>
            </a:pPr>
            <a:r>
              <a:rPr lang="en-US" sz="1300" b="1" dirty="0">
                <a:solidFill>
                  <a:srgbClr val="0891B2"/>
                </a:solidFill>
                <a:latin typeface="Calibri" pitchFamily="34" charset="0"/>
                <a:ea typeface="Calibri" pitchFamily="34" charset="-122"/>
                <a:cs typeface="Calibri" pitchFamily="34" charset="-120"/>
              </a:rPr>
              <a:t>Must Include</a:t>
            </a:r>
            <a:endParaRPr lang="en-US" sz="1300" dirty="0"/>
          </a:p>
          <a:p>
            <a:pPr marL="0" indent="0">
              <a:buNone/>
            </a:pPr>
            <a:r>
              <a:rPr lang="en-US" sz="1100" dirty="0">
                <a:solidFill>
                  <a:srgbClr val="334155"/>
                </a:solidFill>
                <a:latin typeface="Calibri" pitchFamily="34" charset="0"/>
                <a:ea typeface="Calibri" pitchFamily="34" charset="-122"/>
                <a:cs typeface="Calibri" pitchFamily="34" charset="-120"/>
              </a:rPr>
              <a:t>•  Your system (single named box)</a:t>
            </a:r>
            <a:endParaRPr lang="en-US" sz="1300" dirty="0"/>
          </a:p>
          <a:p>
            <a:pPr marL="0" indent="0">
              <a:buNone/>
            </a:pPr>
            <a:r>
              <a:rPr lang="en-US" sz="1100" dirty="0">
                <a:solidFill>
                  <a:srgbClr val="334155"/>
                </a:solidFill>
                <a:latin typeface="Calibri" pitchFamily="34" charset="0"/>
                <a:ea typeface="Calibri" pitchFamily="34" charset="-122"/>
                <a:cs typeface="Calibri" pitchFamily="34" charset="-120"/>
              </a:rPr>
              <a:t>•  People / user roles</a:t>
            </a:r>
            <a:endParaRPr lang="en-US" sz="1300" dirty="0"/>
          </a:p>
          <a:p>
            <a:pPr marL="0" indent="0">
              <a:buNone/>
            </a:pPr>
            <a:r>
              <a:rPr lang="en-US" sz="1100" dirty="0">
                <a:solidFill>
                  <a:srgbClr val="334155"/>
                </a:solidFill>
                <a:latin typeface="Calibri" pitchFamily="34" charset="0"/>
                <a:ea typeface="Calibri" pitchFamily="34" charset="-122"/>
                <a:cs typeface="Calibri" pitchFamily="34" charset="-120"/>
              </a:rPr>
              <a:t>•  External systems (email, payment, SSO)</a:t>
            </a:r>
            <a:endParaRPr lang="en-US" sz="1300" dirty="0"/>
          </a:p>
          <a:p>
            <a:pPr marL="0" indent="0">
              <a:buNone/>
            </a:pPr>
            <a:r>
              <a:rPr lang="en-US" sz="1100" dirty="0">
                <a:solidFill>
                  <a:srgbClr val="334155"/>
                </a:solidFill>
                <a:latin typeface="Calibri" pitchFamily="34" charset="0"/>
                <a:ea typeface="Calibri" pitchFamily="34" charset="-122"/>
                <a:cs typeface="Calibri" pitchFamily="34" charset="-120"/>
              </a:rPr>
              <a:t>•  Labeled relationship arrows</a:t>
            </a:r>
            <a:endParaRPr lang="en-US" sz="1300" dirty="0"/>
          </a:p>
          <a:p>
            <a:pPr marL="0" indent="0">
              <a:buNone/>
            </a:pPr>
            <a:endParaRPr lang="en-US" sz="1300" dirty="0"/>
          </a:p>
          <a:p>
            <a:pPr marL="0" indent="0">
              <a:buNone/>
            </a:pPr>
            <a:r>
              <a:rPr lang="en-US" sz="1300" b="1" dirty="0">
                <a:solidFill>
                  <a:srgbClr val="E11D48"/>
                </a:solidFill>
                <a:latin typeface="Calibri" pitchFamily="34" charset="0"/>
                <a:ea typeface="Calibri" pitchFamily="34" charset="-122"/>
                <a:cs typeface="Calibri" pitchFamily="34" charset="-120"/>
              </a:rPr>
              <a:t>Do NOT Include</a:t>
            </a:r>
            <a:endParaRPr lang="en-US" sz="1300" dirty="0"/>
          </a:p>
          <a:p>
            <a:pPr marL="0" indent="0">
              <a:buNone/>
            </a:pPr>
            <a:r>
              <a:rPr lang="en-US" sz="1100" dirty="0">
                <a:solidFill>
                  <a:srgbClr val="334155"/>
                </a:solidFill>
                <a:latin typeface="Calibri" pitchFamily="34" charset="0"/>
                <a:ea typeface="Calibri" pitchFamily="34" charset="-122"/>
                <a:cs typeface="Calibri" pitchFamily="34" charset="-120"/>
              </a:rPr>
              <a:t>•  Internal containers, databases, queues</a:t>
            </a:r>
            <a:endParaRPr lang="en-US" sz="1300" dirty="0"/>
          </a:p>
          <a:p>
            <a:pPr marL="0" indent="0">
              <a:buNone/>
            </a:pPr>
            <a:r>
              <a:rPr lang="en-US" sz="1100" dirty="0">
                <a:solidFill>
                  <a:srgbClr val="334155"/>
                </a:solidFill>
                <a:latin typeface="Calibri" pitchFamily="34" charset="0"/>
                <a:ea typeface="Calibri" pitchFamily="34" charset="-122"/>
                <a:cs typeface="Calibri" pitchFamily="34" charset="-120"/>
              </a:rPr>
              <a:t>•  Technology choices or protocols</a:t>
            </a:r>
            <a:endParaRPr lang="en-US" sz="1300" dirty="0"/>
          </a:p>
        </p:txBody>
      </p:sp>
      <p:sp>
        <p:nvSpPr>
          <p:cNvPr id="5" name="Shape 3"/>
          <p:cNvSpPr/>
          <p:nvPr/>
        </p:nvSpPr>
        <p:spPr>
          <a:xfrm>
            <a:off x="4526280" y="685800"/>
            <a:ext cx="4114800" cy="41148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6" name="Text 4"/>
          <p:cNvSpPr/>
          <p:nvPr/>
        </p:nvSpPr>
        <p:spPr>
          <a:xfrm>
            <a:off x="4937760" y="758952"/>
            <a:ext cx="3840480" cy="256032"/>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Example: Context Diagram</a:t>
            </a:r>
            <a:endParaRPr lang="en-US" sz="1000" dirty="0"/>
          </a:p>
        </p:txBody>
      </p:sp>
      <p:sp>
        <p:nvSpPr>
          <p:cNvPr id="7" name="Shape 5"/>
          <p:cNvSpPr/>
          <p:nvPr/>
        </p:nvSpPr>
        <p:spPr>
          <a:xfrm>
            <a:off x="6309360" y="1143000"/>
            <a:ext cx="594360" cy="594360"/>
          </a:xfrm>
          <a:prstGeom prst="ellipse">
            <a:avLst/>
          </a:prstGeom>
          <a:solidFill>
            <a:srgbClr val="DBEAFE"/>
          </a:solidFill>
          <a:ln w="19050">
            <a:solidFill>
              <a:srgbClr val="2563EB"/>
            </a:solidFill>
            <a:prstDash val="solid"/>
          </a:ln>
        </p:spPr>
        <p:txBody>
          <a:bodyPr/>
          <a:lstStyle/>
          <a:p>
            <a:endParaRPr lang="en-US"/>
          </a:p>
        </p:txBody>
      </p:sp>
      <p:sp>
        <p:nvSpPr>
          <p:cNvPr id="8" name="Text 6"/>
          <p:cNvSpPr/>
          <p:nvPr/>
        </p:nvSpPr>
        <p:spPr>
          <a:xfrm>
            <a:off x="5669280" y="1783080"/>
            <a:ext cx="1920240" cy="228600"/>
          </a:xfrm>
          <a:prstGeom prst="rect">
            <a:avLst/>
          </a:prstGeom>
          <a:noFill/>
          <a:ln/>
        </p:spPr>
        <p:txBody>
          <a:bodyPr wrap="square" lIns="0" tIns="0" rIns="0" bIns="0" rtlCol="0" anchor="ctr"/>
          <a:lstStyle/>
          <a:p>
            <a:pPr marL="0" indent="0" algn="ctr">
              <a:buNone/>
            </a:pPr>
            <a:r>
              <a:rPr lang="en-US" sz="1000" b="1" dirty="0">
                <a:solidFill>
                  <a:srgbClr val="2563EB"/>
                </a:solidFill>
                <a:latin typeface="Calibri" pitchFamily="34" charset="0"/>
                <a:ea typeface="Calibri" pitchFamily="34" charset="-122"/>
                <a:cs typeface="Calibri" pitchFamily="34" charset="-120"/>
              </a:rPr>
              <a:t>Developer</a:t>
            </a:r>
            <a:endParaRPr lang="en-US" sz="1000" dirty="0"/>
          </a:p>
        </p:txBody>
      </p:sp>
      <p:sp>
        <p:nvSpPr>
          <p:cNvPr id="9" name="Shape 7"/>
          <p:cNvSpPr/>
          <p:nvPr/>
        </p:nvSpPr>
        <p:spPr>
          <a:xfrm>
            <a:off x="5440680" y="2194560"/>
            <a:ext cx="2377440" cy="777240"/>
          </a:xfrm>
          <a:prstGeom prst="rect">
            <a:avLst/>
          </a:prstGeom>
          <a:solidFill>
            <a:srgbClr val="0891B2"/>
          </a:solidFill>
          <a:ln/>
          <a:effectLst>
            <a:outerShdw blurRad="50800" dist="25400" dir="8100000" algn="bl" rotWithShape="0">
              <a:srgbClr val="000000">
                <a:alpha val="10000"/>
              </a:srgbClr>
            </a:outerShdw>
          </a:effectLst>
        </p:spPr>
        <p:txBody>
          <a:bodyPr/>
          <a:lstStyle/>
          <a:p>
            <a:endParaRPr lang="en-US"/>
          </a:p>
        </p:txBody>
      </p:sp>
      <p:sp>
        <p:nvSpPr>
          <p:cNvPr id="10" name="Text 8"/>
          <p:cNvSpPr/>
          <p:nvPr/>
        </p:nvSpPr>
        <p:spPr>
          <a:xfrm>
            <a:off x="5440680" y="2194560"/>
            <a:ext cx="2377440"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KnowledgeForge</a:t>
            </a:r>
            <a:endParaRPr lang="en-US" sz="1100" dirty="0"/>
          </a:p>
          <a:p>
            <a:pPr marL="0" indent="0" algn="ctr">
              <a:buNone/>
            </a:pPr>
            <a:r>
              <a:rPr lang="en-US" sz="800" dirty="0">
                <a:solidFill>
                  <a:srgbClr val="ECFEFF"/>
                </a:solidFill>
                <a:latin typeface="Calibri" pitchFamily="34" charset="0"/>
                <a:ea typeface="Calibri" pitchFamily="34" charset="-122"/>
                <a:cs typeface="Calibri" pitchFamily="34" charset="-120"/>
              </a:rPr>
              <a:t>[Software System]</a:t>
            </a:r>
            <a:endParaRPr lang="en-US" sz="1100" dirty="0"/>
          </a:p>
        </p:txBody>
      </p:sp>
      <p:sp>
        <p:nvSpPr>
          <p:cNvPr id="11" name="Shape 9"/>
          <p:cNvSpPr/>
          <p:nvPr/>
        </p:nvSpPr>
        <p:spPr>
          <a:xfrm>
            <a:off x="6629400" y="1783080"/>
            <a:ext cx="0" cy="411480"/>
          </a:xfrm>
          <a:prstGeom prst="line">
            <a:avLst/>
          </a:prstGeom>
          <a:noFill/>
          <a:ln w="19050">
            <a:solidFill>
              <a:srgbClr val="64748B"/>
            </a:solidFill>
            <a:prstDash val="solid"/>
          </a:ln>
        </p:spPr>
        <p:txBody>
          <a:bodyPr/>
          <a:lstStyle/>
          <a:p>
            <a:endParaRPr lang="en-US"/>
          </a:p>
        </p:txBody>
      </p:sp>
      <p:sp>
        <p:nvSpPr>
          <p:cNvPr id="12" name="Shape 10"/>
          <p:cNvSpPr/>
          <p:nvPr/>
        </p:nvSpPr>
        <p:spPr>
          <a:xfrm>
            <a:off x="4937760" y="3383280"/>
            <a:ext cx="1463040" cy="685800"/>
          </a:xfrm>
          <a:prstGeom prst="rect">
            <a:avLst/>
          </a:prstGeom>
          <a:solidFill>
            <a:srgbClr val="F1F5F9"/>
          </a:solidFill>
          <a:ln w="12700">
            <a:solidFill>
              <a:srgbClr val="64748B"/>
            </a:solidFill>
            <a:prstDash val="dash"/>
          </a:ln>
        </p:spPr>
        <p:txBody>
          <a:bodyPr/>
          <a:lstStyle/>
          <a:p>
            <a:endParaRPr lang="en-US"/>
          </a:p>
        </p:txBody>
      </p:sp>
      <p:sp>
        <p:nvSpPr>
          <p:cNvPr id="13" name="Text 11"/>
          <p:cNvSpPr/>
          <p:nvPr/>
        </p:nvSpPr>
        <p:spPr>
          <a:xfrm>
            <a:off x="4937760" y="3383280"/>
            <a:ext cx="1463040" cy="685800"/>
          </a:xfrm>
          <a:prstGeom prst="rect">
            <a:avLst/>
          </a:prstGeom>
          <a:noFill/>
          <a:ln/>
        </p:spPr>
        <p:txBody>
          <a:bodyPr wrap="square" lIns="0" tIns="0" rIns="0" bIns="0" rtlCol="0" anchor="ctr"/>
          <a:lstStyle/>
          <a:p>
            <a:pPr marL="0" indent="0" algn="ctr">
              <a:buNone/>
            </a:pPr>
            <a:r>
              <a:rPr lang="en-US" sz="900" b="1" dirty="0">
                <a:solidFill>
                  <a:srgbClr val="334155"/>
                </a:solidFill>
                <a:latin typeface="Calibri" pitchFamily="34" charset="0"/>
                <a:ea typeface="Calibri" pitchFamily="34" charset="-122"/>
                <a:cs typeface="Calibri" pitchFamily="34" charset="-120"/>
              </a:rPr>
              <a:t>Git Repository</a:t>
            </a:r>
            <a:endParaRPr lang="en-US" sz="900" dirty="0"/>
          </a:p>
          <a:p>
            <a:pPr marL="0" indent="0" algn="ctr">
              <a:buNone/>
            </a:pPr>
            <a:r>
              <a:rPr lang="en-US" sz="700" dirty="0">
                <a:solidFill>
                  <a:srgbClr val="64748B"/>
                </a:solidFill>
                <a:latin typeface="Calibri" pitchFamily="34" charset="0"/>
                <a:ea typeface="Calibri" pitchFamily="34" charset="-122"/>
                <a:cs typeface="Calibri" pitchFamily="34" charset="-120"/>
              </a:rPr>
              <a:t>[External System]</a:t>
            </a:r>
            <a:endParaRPr lang="en-US" sz="900" dirty="0"/>
          </a:p>
        </p:txBody>
      </p:sp>
      <p:sp>
        <p:nvSpPr>
          <p:cNvPr id="14" name="Shape 12"/>
          <p:cNvSpPr/>
          <p:nvPr/>
        </p:nvSpPr>
        <p:spPr>
          <a:xfrm>
            <a:off x="6858000" y="3383280"/>
            <a:ext cx="1463040" cy="685800"/>
          </a:xfrm>
          <a:prstGeom prst="rect">
            <a:avLst/>
          </a:prstGeom>
          <a:solidFill>
            <a:srgbClr val="F1F5F9"/>
          </a:solidFill>
          <a:ln w="12700">
            <a:solidFill>
              <a:srgbClr val="64748B"/>
            </a:solidFill>
            <a:prstDash val="dash"/>
          </a:ln>
        </p:spPr>
        <p:txBody>
          <a:bodyPr/>
          <a:lstStyle/>
          <a:p>
            <a:endParaRPr lang="en-US"/>
          </a:p>
        </p:txBody>
      </p:sp>
      <p:sp>
        <p:nvSpPr>
          <p:cNvPr id="15" name="Text 13"/>
          <p:cNvSpPr/>
          <p:nvPr/>
        </p:nvSpPr>
        <p:spPr>
          <a:xfrm>
            <a:off x="6858000" y="3383280"/>
            <a:ext cx="1463040" cy="685800"/>
          </a:xfrm>
          <a:prstGeom prst="rect">
            <a:avLst/>
          </a:prstGeom>
          <a:noFill/>
          <a:ln/>
        </p:spPr>
        <p:txBody>
          <a:bodyPr wrap="square" lIns="0" tIns="0" rIns="0" bIns="0" rtlCol="0" anchor="ctr"/>
          <a:lstStyle/>
          <a:p>
            <a:pPr marL="0" indent="0" algn="ctr">
              <a:buNone/>
            </a:pPr>
            <a:r>
              <a:rPr lang="en-US" sz="900" b="1" dirty="0">
                <a:solidFill>
                  <a:srgbClr val="334155"/>
                </a:solidFill>
                <a:latin typeface="Calibri" pitchFamily="34" charset="0"/>
                <a:ea typeface="Calibri" pitchFamily="34" charset="-122"/>
                <a:cs typeface="Calibri" pitchFamily="34" charset="-120"/>
              </a:rPr>
              <a:t>LLM API</a:t>
            </a:r>
            <a:endParaRPr lang="en-US" sz="900" dirty="0"/>
          </a:p>
          <a:p>
            <a:pPr marL="0" indent="0" algn="ctr">
              <a:buNone/>
            </a:pPr>
            <a:r>
              <a:rPr lang="en-US" sz="700" dirty="0">
                <a:solidFill>
                  <a:srgbClr val="64748B"/>
                </a:solidFill>
                <a:latin typeface="Calibri" pitchFamily="34" charset="0"/>
                <a:ea typeface="Calibri" pitchFamily="34" charset="-122"/>
                <a:cs typeface="Calibri" pitchFamily="34" charset="-120"/>
              </a:rPr>
              <a:t>[External System]</a:t>
            </a:r>
            <a:endParaRPr lang="en-US" sz="900" dirty="0"/>
          </a:p>
        </p:txBody>
      </p:sp>
      <p:sp>
        <p:nvSpPr>
          <p:cNvPr id="16" name="Shape 14"/>
          <p:cNvSpPr/>
          <p:nvPr/>
        </p:nvSpPr>
        <p:spPr>
          <a:xfrm>
            <a:off x="5989320" y="2971800"/>
            <a:ext cx="0" cy="411480"/>
          </a:xfrm>
          <a:prstGeom prst="line">
            <a:avLst/>
          </a:prstGeom>
          <a:noFill/>
          <a:ln w="12700">
            <a:solidFill>
              <a:srgbClr val="64748B"/>
            </a:solidFill>
            <a:prstDash val="solid"/>
          </a:ln>
        </p:spPr>
        <p:txBody>
          <a:bodyPr/>
          <a:lstStyle/>
          <a:p>
            <a:endParaRPr lang="en-US"/>
          </a:p>
        </p:txBody>
      </p:sp>
      <p:sp>
        <p:nvSpPr>
          <p:cNvPr id="17" name="Shape 15"/>
          <p:cNvSpPr/>
          <p:nvPr/>
        </p:nvSpPr>
        <p:spPr>
          <a:xfrm>
            <a:off x="7269480" y="2971800"/>
            <a:ext cx="0" cy="411480"/>
          </a:xfrm>
          <a:prstGeom prst="line">
            <a:avLst/>
          </a:prstGeom>
          <a:noFill/>
          <a:ln w="12700">
            <a:solidFill>
              <a:srgbClr val="64748B"/>
            </a:solidFill>
            <a:prstDash val="solid"/>
          </a:ln>
        </p:spPr>
        <p:txBody>
          <a:bodyPr/>
          <a:lstStyle/>
          <a:p>
            <a:endParaRPr lang="en-US"/>
          </a:p>
        </p:txBody>
      </p:sp>
      <p:sp>
        <p:nvSpPr>
          <p:cNvPr id="18" name="Text 16"/>
          <p:cNvSpPr/>
          <p:nvPr/>
        </p:nvSpPr>
        <p:spPr>
          <a:xfrm>
            <a:off x="5074920" y="3017520"/>
            <a:ext cx="822960" cy="228600"/>
          </a:xfrm>
          <a:prstGeom prst="rect">
            <a:avLst/>
          </a:prstGeom>
          <a:noFill/>
          <a:ln/>
        </p:spPr>
        <p:txBody>
          <a:bodyPr wrap="square" lIns="0" tIns="0" rIns="0" bIns="0"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Clones</a:t>
            </a:r>
            <a:endParaRPr lang="en-US" sz="800" dirty="0"/>
          </a:p>
        </p:txBody>
      </p:sp>
      <p:sp>
        <p:nvSpPr>
          <p:cNvPr id="19" name="Text 17"/>
          <p:cNvSpPr/>
          <p:nvPr/>
        </p:nvSpPr>
        <p:spPr>
          <a:xfrm>
            <a:off x="7315200" y="3017520"/>
            <a:ext cx="822960" cy="228600"/>
          </a:xfrm>
          <a:prstGeom prst="rect">
            <a:avLst/>
          </a:prstGeom>
          <a:noFill/>
          <a:ln/>
        </p:spPr>
        <p:txBody>
          <a:bodyPr wrap="square" lIns="0" tIns="0" rIns="0" bIns="0"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Enriches</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5B6DAB3-34A1-B53F-403C-46D9996AE0D7}"/>
              </a:ext>
            </a:extLst>
          </p:cNvPr>
          <p:cNvPicPr>
            <a:picLocks noChangeAspect="1"/>
          </p:cNvPicPr>
          <p:nvPr/>
        </p:nvPicPr>
        <p:blipFill>
          <a:blip r:embed="rId3"/>
          <a:stretch>
            <a:fillRect/>
          </a:stretch>
        </p:blipFill>
        <p:spPr>
          <a:xfrm>
            <a:off x="1877274" y="355341"/>
            <a:ext cx="4866426" cy="4432817"/>
          </a:xfrm>
          <a:prstGeom prst="rect">
            <a:avLst/>
          </a:prstGeom>
        </p:spPr>
      </p:pic>
      <p:sp>
        <p:nvSpPr>
          <p:cNvPr id="5" name="TextBox 4">
            <a:extLst>
              <a:ext uri="{FF2B5EF4-FFF2-40B4-BE49-F238E27FC236}">
                <a16:creationId xmlns:a16="http://schemas.microsoft.com/office/drawing/2014/main" id="{0D50C0E4-9849-CAC5-A59D-6A27AD754E43}"/>
              </a:ext>
            </a:extLst>
          </p:cNvPr>
          <p:cNvSpPr txBox="1"/>
          <p:nvPr/>
        </p:nvSpPr>
        <p:spPr>
          <a:xfrm>
            <a:off x="6149380" y="3217851"/>
            <a:ext cx="2123979" cy="1384995"/>
          </a:xfrm>
          <a:prstGeom prst="rect">
            <a:avLst/>
          </a:prstGeom>
          <a:noFill/>
        </p:spPr>
        <p:txBody>
          <a:bodyPr wrap="none" rtlCol="0">
            <a:spAutoFit/>
          </a:bodyPr>
          <a:lstStyle/>
          <a:p>
            <a:r>
              <a:rPr lang="en-US" sz="1200" dirty="0"/>
              <a:t>Discussion:</a:t>
            </a:r>
          </a:p>
          <a:p>
            <a:endParaRPr lang="en-US" sz="1200" dirty="0"/>
          </a:p>
          <a:p>
            <a:r>
              <a:rPr lang="en-US" sz="1200" dirty="0"/>
              <a:t>How to label external systems?</a:t>
            </a:r>
          </a:p>
          <a:p>
            <a:endParaRPr lang="en-US" sz="1200" dirty="0"/>
          </a:p>
          <a:p>
            <a:r>
              <a:rPr lang="en-US" sz="1200" dirty="0"/>
              <a:t>Idea:</a:t>
            </a:r>
          </a:p>
          <a:p>
            <a:r>
              <a:rPr lang="en-US" sz="1200" dirty="0"/>
              <a:t>- Dictionary + </a:t>
            </a:r>
            <a:r>
              <a:rPr lang="en-US" sz="1200" dirty="0" err="1"/>
              <a:t>llms</a:t>
            </a:r>
            <a:r>
              <a:rPr lang="en-US" sz="1200" dirty="0"/>
              <a:t> + </a:t>
            </a:r>
            <a:r>
              <a:rPr lang="en-US" sz="1200" dirty="0" err="1"/>
              <a:t>hitl</a:t>
            </a:r>
            <a:endParaRPr lang="en-US" sz="1200" dirty="0"/>
          </a:p>
          <a:p>
            <a:endParaRPr lang="en-US" sz="1200" dirty="0"/>
          </a:p>
        </p:txBody>
      </p:sp>
    </p:spTree>
    <p:extLst>
      <p:ext uri="{BB962C8B-B14F-4D97-AF65-F5344CB8AC3E}">
        <p14:creationId xmlns:p14="http://schemas.microsoft.com/office/powerpoint/2010/main" val="4010339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txBody>
          <a:bodyPr/>
          <a:lstStyle/>
          <a:p>
            <a:endParaRPr lang="en-US"/>
          </a:p>
        </p:txBody>
      </p:sp>
      <p:sp>
        <p:nvSpPr>
          <p:cNvPr id="3" name="Text 1"/>
          <p:cNvSpPr/>
          <p:nvPr/>
        </p:nvSpPr>
        <p:spPr>
          <a:xfrm>
            <a:off x="640080" y="182880"/>
            <a:ext cx="8229600" cy="502920"/>
          </a:xfrm>
          <a:prstGeom prst="rect">
            <a:avLst/>
          </a:prstGeom>
          <a:noFill/>
          <a:ln/>
        </p:spPr>
        <p:txBody>
          <a:bodyPr wrap="square" lIns="0" tIns="0" rIns="0" bIns="0" rtlCol="0" anchor="ctr"/>
          <a:lstStyle/>
          <a:p>
            <a:pPr marL="0" indent="0">
              <a:buNone/>
            </a:pPr>
            <a:r>
              <a:rPr lang="en-US" sz="2400" b="1" dirty="0">
                <a:solidFill>
                  <a:srgbClr val="1B2A4A"/>
                </a:solidFill>
                <a:latin typeface="Trebuchet MS" pitchFamily="34" charset="0"/>
                <a:ea typeface="Trebuchet MS" pitchFamily="34" charset="-122"/>
                <a:cs typeface="Trebuchet MS" pitchFamily="34" charset="-120"/>
              </a:rPr>
              <a:t>KnowledgeForge: Context Extraction (L1)</a:t>
            </a:r>
            <a:endParaRPr lang="en-US" sz="2400" dirty="0"/>
          </a:p>
        </p:txBody>
      </p:sp>
      <p:sp>
        <p:nvSpPr>
          <p:cNvPr id="4" name="Text 2"/>
          <p:cNvSpPr/>
          <p:nvPr/>
        </p:nvSpPr>
        <p:spPr>
          <a:xfrm>
            <a:off x="640080" y="731520"/>
            <a:ext cx="7863840" cy="27432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Orchestrator: ContextManager (runs after L2 containers are extracted)</a:t>
            </a:r>
            <a:endParaRPr lang="en-US" sz="1100" dirty="0"/>
          </a:p>
        </p:txBody>
      </p:sp>
      <p:sp>
        <p:nvSpPr>
          <p:cNvPr id="5" name="Shape 3"/>
          <p:cNvSpPr/>
          <p:nvPr/>
        </p:nvSpPr>
        <p:spPr>
          <a:xfrm>
            <a:off x="640080" y="1097280"/>
            <a:ext cx="7863840" cy="11430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6" name="Shape 4"/>
          <p:cNvSpPr/>
          <p:nvPr/>
        </p:nvSpPr>
        <p:spPr>
          <a:xfrm>
            <a:off x="640080" y="1097280"/>
            <a:ext cx="54864" cy="1143000"/>
          </a:xfrm>
          <a:prstGeom prst="rect">
            <a:avLst/>
          </a:prstGeom>
          <a:solidFill>
            <a:srgbClr val="0891B2"/>
          </a:solidFill>
          <a:ln/>
        </p:spPr>
        <p:txBody>
          <a:bodyPr/>
          <a:lstStyle/>
          <a:p>
            <a:endParaRPr lang="en-US"/>
          </a:p>
        </p:txBody>
      </p:sp>
      <p:sp>
        <p:nvSpPr>
          <p:cNvPr id="7" name="Text 5"/>
          <p:cNvSpPr/>
          <p:nvPr/>
        </p:nvSpPr>
        <p:spPr>
          <a:xfrm>
            <a:off x="868680" y="1170432"/>
            <a:ext cx="2743200" cy="256032"/>
          </a:xfrm>
          <a:prstGeom prst="rect">
            <a:avLst/>
          </a:prstGeom>
          <a:noFill/>
          <a:ln/>
        </p:spPr>
        <p:txBody>
          <a:bodyPr wrap="square" lIns="0" tIns="0" rIns="0" bIns="0" rtlCol="0" anchor="ctr"/>
          <a:lstStyle/>
          <a:p>
            <a:pPr marL="0" indent="0">
              <a:buNone/>
            </a:pPr>
            <a:r>
              <a:rPr lang="en-US" sz="1300" b="1" dirty="0">
                <a:solidFill>
                  <a:srgbClr val="0891B2"/>
                </a:solidFill>
                <a:latin typeface="Trebuchet MS" pitchFamily="34" charset="0"/>
                <a:ea typeface="Trebuchet MS" pitchFamily="34" charset="-122"/>
                <a:cs typeface="Trebuchet MS" pitchFamily="34" charset="-120"/>
              </a:rPr>
              <a:t>SystemDetector</a:t>
            </a:r>
            <a:endParaRPr lang="en-US" sz="1300" dirty="0"/>
          </a:p>
        </p:txBody>
      </p:sp>
      <p:sp>
        <p:nvSpPr>
          <p:cNvPr id="8" name="Text 6"/>
          <p:cNvSpPr/>
          <p:nvPr/>
        </p:nvSpPr>
        <p:spPr>
          <a:xfrm>
            <a:off x="868680" y="1417320"/>
            <a:ext cx="7452360" cy="77724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000" dirty="0">
                <a:solidFill>
                  <a:srgbClr val="334155"/>
                </a:solidFill>
                <a:latin typeface="Calibri" pitchFamily="34" charset="0"/>
                <a:ea typeface="Calibri" pitchFamily="34" charset="-122"/>
                <a:cs typeface="Calibri" pitchFamily="34" charset="-120"/>
              </a:rPr>
              <a:t>System name (package.json, pyproject, README, sln, LLM fallback)</a:t>
            </a:r>
          </a:p>
          <a:p>
            <a:pPr marL="171450" indent="-171450">
              <a:buFont typeface="Arial" panose="020B0604020202020204" pitchFamily="34" charset="0"/>
              <a:buChar char="•"/>
            </a:pPr>
            <a:r>
              <a:rPr lang="en-US" sz="1000" dirty="0">
                <a:solidFill>
                  <a:srgbClr val="334155"/>
                </a:solidFill>
                <a:latin typeface="Calibri" pitchFamily="34" charset="0"/>
                <a:ea typeface="Calibri" pitchFamily="34" charset="-122"/>
                <a:cs typeface="Calibri" pitchFamily="34" charset="-120"/>
              </a:rPr>
              <a:t>purpose from README, languages by file count, frameworks from indicators</a:t>
            </a:r>
          </a:p>
          <a:p>
            <a:pPr marL="171450" indent="-171450">
              <a:buFont typeface="Arial" panose="020B0604020202020204" pitchFamily="34" charset="0"/>
              <a:buChar char="•"/>
            </a:pPr>
            <a:r>
              <a:rPr lang="en-US" sz="1000" dirty="0">
                <a:solidFill>
                  <a:srgbClr val="334155"/>
                </a:solidFill>
                <a:latin typeface="Calibri" pitchFamily="34" charset="0"/>
                <a:ea typeface="Calibri" pitchFamily="34" charset="-122"/>
                <a:cs typeface="Calibri" pitchFamily="34" charset="-120"/>
              </a:rPr>
              <a:t>actors from README, git metadata (commits, contributors, DORA)</a:t>
            </a:r>
          </a:p>
          <a:p>
            <a:pPr marL="171450" indent="-171450">
              <a:buFont typeface="Arial" panose="020B0604020202020204" pitchFamily="34" charset="0"/>
              <a:buChar char="•"/>
            </a:pPr>
            <a:r>
              <a:rPr lang="en-US" sz="1000" dirty="0">
                <a:solidFill>
                  <a:srgbClr val="334155"/>
                </a:solidFill>
                <a:latin typeface="Calibri" pitchFamily="34" charset="0"/>
                <a:ea typeface="Calibri" pitchFamily="34" charset="-122"/>
                <a:cs typeface="Calibri" pitchFamily="34" charset="-120"/>
              </a:rPr>
              <a:t>regulatory frameworks (PCI, GDPR, HIPAA)</a:t>
            </a:r>
            <a:endParaRPr lang="en-US" sz="1000" dirty="0"/>
          </a:p>
        </p:txBody>
      </p:sp>
      <p:sp>
        <p:nvSpPr>
          <p:cNvPr id="9" name="Shape 7"/>
          <p:cNvSpPr/>
          <p:nvPr/>
        </p:nvSpPr>
        <p:spPr>
          <a:xfrm>
            <a:off x="640080" y="2377440"/>
            <a:ext cx="7863840" cy="11430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0" name="Shape 8"/>
          <p:cNvSpPr/>
          <p:nvPr/>
        </p:nvSpPr>
        <p:spPr>
          <a:xfrm>
            <a:off x="640080" y="2377440"/>
            <a:ext cx="54864" cy="1143000"/>
          </a:xfrm>
          <a:prstGeom prst="rect">
            <a:avLst/>
          </a:prstGeom>
          <a:solidFill>
            <a:srgbClr val="059669"/>
          </a:solidFill>
          <a:ln/>
        </p:spPr>
        <p:txBody>
          <a:bodyPr/>
          <a:lstStyle/>
          <a:p>
            <a:endParaRPr lang="en-US"/>
          </a:p>
        </p:txBody>
      </p:sp>
      <p:sp>
        <p:nvSpPr>
          <p:cNvPr id="11" name="Text 9"/>
          <p:cNvSpPr/>
          <p:nvPr/>
        </p:nvSpPr>
        <p:spPr>
          <a:xfrm>
            <a:off x="868680" y="2450592"/>
            <a:ext cx="2743200" cy="256032"/>
          </a:xfrm>
          <a:prstGeom prst="rect">
            <a:avLst/>
          </a:prstGeom>
          <a:noFill/>
          <a:ln/>
        </p:spPr>
        <p:txBody>
          <a:bodyPr wrap="square" lIns="0" tIns="0" rIns="0" bIns="0" rtlCol="0" anchor="ctr"/>
          <a:lstStyle/>
          <a:p>
            <a:pPr marL="0" indent="0">
              <a:buNone/>
            </a:pPr>
            <a:r>
              <a:rPr lang="en-US" sz="1300" b="1" dirty="0">
                <a:solidFill>
                  <a:srgbClr val="059669"/>
                </a:solidFill>
                <a:latin typeface="Trebuchet MS" pitchFamily="34" charset="0"/>
                <a:ea typeface="Trebuchet MS" pitchFamily="34" charset="-122"/>
                <a:cs typeface="Trebuchet MS" pitchFamily="34" charset="-120"/>
              </a:rPr>
              <a:t>DependencyDetector</a:t>
            </a:r>
            <a:endParaRPr lang="en-US" sz="1300" dirty="0"/>
          </a:p>
        </p:txBody>
      </p:sp>
      <p:sp>
        <p:nvSpPr>
          <p:cNvPr id="12" name="Text 10"/>
          <p:cNvSpPr/>
          <p:nvPr/>
        </p:nvSpPr>
        <p:spPr>
          <a:xfrm>
            <a:off x="868680" y="2697480"/>
            <a:ext cx="7452360" cy="77724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000" dirty="0">
                <a:solidFill>
                  <a:srgbClr val="334155"/>
                </a:solidFill>
                <a:latin typeface="Calibri" pitchFamily="34" charset="0"/>
                <a:ea typeface="Calibri" pitchFamily="34" charset="-122"/>
                <a:cs typeface="Calibri" pitchFamily="34" charset="-120"/>
              </a:rPr>
              <a:t>External deps from requirements/package.json/NuGet (60+ mappings)</a:t>
            </a:r>
          </a:p>
          <a:p>
            <a:pPr marL="171450" indent="-171450">
              <a:buFont typeface="Arial" panose="020B0604020202020204" pitchFamily="34" charset="0"/>
              <a:buChar char="•"/>
            </a:pPr>
            <a:r>
              <a:rPr lang="en-US" sz="1000" dirty="0">
                <a:solidFill>
                  <a:srgbClr val="334155"/>
                </a:solidFill>
                <a:latin typeface="Calibri" pitchFamily="34" charset="0"/>
                <a:ea typeface="Calibri" pitchFamily="34" charset="-122"/>
                <a:cs typeface="Calibri" pitchFamily="34" charset="-120"/>
              </a:rPr>
              <a:t>docker-compose image → service type</a:t>
            </a:r>
          </a:p>
          <a:p>
            <a:pPr marL="171450" indent="-171450">
              <a:buFont typeface="Arial" panose="020B0604020202020204" pitchFamily="34" charset="0"/>
              <a:buChar char="•"/>
            </a:pPr>
            <a:r>
              <a:rPr lang="en-US" sz="1000" dirty="0">
                <a:solidFill>
                  <a:srgbClr val="334155"/>
                </a:solidFill>
                <a:latin typeface="Calibri" pitchFamily="34" charset="0"/>
                <a:ea typeface="Calibri" pitchFamily="34" charset="-122"/>
                <a:cs typeface="Calibri" pitchFamily="34" charset="-120"/>
              </a:rPr>
              <a:t>env files for URLs</a:t>
            </a:r>
          </a:p>
          <a:p>
            <a:pPr marL="171450" indent="-171450">
              <a:buFont typeface="Arial" panose="020B0604020202020204" pitchFamily="34" charset="0"/>
              <a:buChar char="•"/>
            </a:pPr>
            <a:r>
              <a:rPr lang="en-US" sz="1000" dirty="0">
                <a:solidFill>
                  <a:srgbClr val="334155"/>
                </a:solidFill>
                <a:latin typeface="Calibri" pitchFamily="34" charset="0"/>
                <a:ea typeface="Calibri" pitchFamily="34" charset="-122"/>
                <a:cs typeface="Calibri" pitchFamily="34" charset="-120"/>
              </a:rPr>
              <a:t>deployment deps from IaC (Helm, Terraform)</a:t>
            </a:r>
          </a:p>
          <a:p>
            <a:pPr marL="171450" indent="-171450">
              <a:buFont typeface="Arial" panose="020B0604020202020204" pitchFamily="34" charset="0"/>
              <a:buChar char="•"/>
            </a:pPr>
            <a:r>
              <a:rPr lang="en-US" sz="1000" dirty="0">
                <a:solidFill>
                  <a:srgbClr val="334155"/>
                </a:solidFill>
                <a:latin typeface="Calibri" pitchFamily="34" charset="0"/>
                <a:ea typeface="Calibri" pitchFamily="34" charset="-122"/>
                <a:cs typeface="Calibri" pitchFamily="34" charset="-120"/>
              </a:rPr>
              <a:t>freshness alerts for pinned versions</a:t>
            </a:r>
            <a:endParaRPr lang="en-US" sz="1000" dirty="0"/>
          </a:p>
        </p:txBody>
      </p:sp>
      <p:sp>
        <p:nvSpPr>
          <p:cNvPr id="13" name="Shape 11"/>
          <p:cNvSpPr/>
          <p:nvPr/>
        </p:nvSpPr>
        <p:spPr>
          <a:xfrm>
            <a:off x="640080" y="3657600"/>
            <a:ext cx="7863840" cy="14173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dirty="0"/>
          </a:p>
        </p:txBody>
      </p:sp>
      <p:sp>
        <p:nvSpPr>
          <p:cNvPr id="14" name="Shape 12"/>
          <p:cNvSpPr/>
          <p:nvPr/>
        </p:nvSpPr>
        <p:spPr>
          <a:xfrm>
            <a:off x="640080" y="3657600"/>
            <a:ext cx="54864" cy="1417320"/>
          </a:xfrm>
          <a:prstGeom prst="rect">
            <a:avLst/>
          </a:prstGeom>
          <a:solidFill>
            <a:srgbClr val="7C3AED"/>
          </a:solidFill>
          <a:ln/>
        </p:spPr>
        <p:txBody>
          <a:bodyPr/>
          <a:lstStyle/>
          <a:p>
            <a:endParaRPr lang="en-US"/>
          </a:p>
        </p:txBody>
      </p:sp>
      <p:sp>
        <p:nvSpPr>
          <p:cNvPr id="15" name="Text 13"/>
          <p:cNvSpPr/>
          <p:nvPr/>
        </p:nvSpPr>
        <p:spPr>
          <a:xfrm>
            <a:off x="868680" y="3730752"/>
            <a:ext cx="2743200" cy="256032"/>
          </a:xfrm>
          <a:prstGeom prst="rect">
            <a:avLst/>
          </a:prstGeom>
          <a:noFill/>
          <a:ln/>
        </p:spPr>
        <p:txBody>
          <a:bodyPr wrap="square" lIns="0" tIns="0" rIns="0" bIns="0" rtlCol="0" anchor="ctr"/>
          <a:lstStyle/>
          <a:p>
            <a:pPr marL="0" indent="0">
              <a:buNone/>
            </a:pPr>
            <a:r>
              <a:rPr lang="en-US" sz="1300" b="1" dirty="0">
                <a:solidFill>
                  <a:srgbClr val="7C3AED"/>
                </a:solidFill>
                <a:latin typeface="Trebuchet MS" pitchFamily="34" charset="0"/>
                <a:ea typeface="Trebuchet MS" pitchFamily="34" charset="-122"/>
                <a:cs typeface="Trebuchet MS" pitchFamily="34" charset="-120"/>
              </a:rPr>
              <a:t>MetadataDetector</a:t>
            </a:r>
            <a:endParaRPr lang="en-US" sz="1300" dirty="0"/>
          </a:p>
        </p:txBody>
      </p:sp>
      <p:sp>
        <p:nvSpPr>
          <p:cNvPr id="16" name="Text 14"/>
          <p:cNvSpPr/>
          <p:nvPr/>
        </p:nvSpPr>
        <p:spPr>
          <a:xfrm>
            <a:off x="868680" y="3977640"/>
            <a:ext cx="7452360" cy="109728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000" dirty="0">
                <a:solidFill>
                  <a:srgbClr val="334155"/>
                </a:solidFill>
                <a:latin typeface="Calibri" pitchFamily="34" charset="0"/>
                <a:ea typeface="Calibri" pitchFamily="34" charset="-122"/>
                <a:cs typeface="Calibri" pitchFamily="34" charset="-120"/>
              </a:rPr>
              <a:t>Owner (CODEOWNERS → README → git log → LLM)</a:t>
            </a:r>
          </a:p>
          <a:p>
            <a:pPr marL="171450" indent="-171450">
              <a:buFont typeface="Arial" panose="020B0604020202020204" pitchFamily="34" charset="0"/>
              <a:buChar char="•"/>
            </a:pPr>
            <a:r>
              <a:rPr lang="en-US" sz="1000" dirty="0">
                <a:solidFill>
                  <a:srgbClr val="334155"/>
                </a:solidFill>
                <a:latin typeface="Calibri" pitchFamily="34" charset="0"/>
                <a:ea typeface="Calibri" pitchFamily="34" charset="-122"/>
                <a:cs typeface="Calibri" pitchFamily="34" charset="-120"/>
              </a:rPr>
              <a:t>domain inference from paths + tech stack</a:t>
            </a:r>
          </a:p>
          <a:p>
            <a:pPr marL="171450" indent="-171450">
              <a:buFont typeface="Arial" panose="020B0604020202020204" pitchFamily="34" charset="0"/>
              <a:buChar char="•"/>
            </a:pPr>
            <a:r>
              <a:rPr lang="en-US" sz="1000" dirty="0">
                <a:solidFill>
                  <a:srgbClr val="334155"/>
                </a:solidFill>
                <a:latin typeface="Calibri" pitchFamily="34" charset="0"/>
                <a:ea typeface="Calibri" pitchFamily="34" charset="-122"/>
                <a:cs typeface="Calibri" pitchFamily="34" charset="-120"/>
              </a:rPr>
              <a:t>status lifecycle (ACTIVE/MAINTENANCE/DEPRECATED/ARCHIVED from commit velocity)</a:t>
            </a:r>
          </a:p>
          <a:p>
            <a:pPr marL="171450" indent="-171450">
              <a:buFont typeface="Arial" panose="020B0604020202020204" pitchFamily="34" charset="0"/>
              <a:buChar char="•"/>
            </a:pPr>
            <a:r>
              <a:rPr lang="en-US" sz="1000" dirty="0">
                <a:solidFill>
                  <a:srgbClr val="334155"/>
                </a:solidFill>
                <a:latin typeface="Calibri" pitchFamily="34" charset="0"/>
                <a:ea typeface="Calibri" pitchFamily="34" charset="-122"/>
                <a:cs typeface="Calibri" pitchFamily="34" charset="-120"/>
              </a:rPr>
              <a:t>tier (1/2/3 from keywords + dependency count)</a:t>
            </a:r>
          </a:p>
          <a:p>
            <a:pPr marL="171450" indent="-171450">
              <a:buFont typeface="Arial" panose="020B0604020202020204" pitchFamily="34" charset="0"/>
              <a:buChar char="•"/>
            </a:pPr>
            <a:r>
              <a:rPr lang="en-US" sz="1000" dirty="0" err="1">
                <a:solidFill>
                  <a:srgbClr val="334155"/>
                </a:solidFill>
                <a:latin typeface="Calibri" pitchFamily="34" charset="0"/>
                <a:ea typeface="Calibri" pitchFamily="34" charset="-122"/>
                <a:cs typeface="Calibri" pitchFamily="34" charset="-120"/>
              </a:rPr>
              <a:t>data_class</a:t>
            </a:r>
            <a:r>
              <a:rPr lang="en-US" sz="1000" dirty="0">
                <a:solidFill>
                  <a:srgbClr val="334155"/>
                </a:solidFill>
                <a:latin typeface="Calibri" pitchFamily="34" charset="0"/>
                <a:ea typeface="Calibri" pitchFamily="34" charset="-122"/>
                <a:cs typeface="Calibri" pitchFamily="34" charset="-120"/>
              </a:rPr>
              <a:t> (PII/Credit-Card/Legal/General)</a:t>
            </a:r>
          </a:p>
          <a:p>
            <a:pPr marL="171450" indent="-171450">
              <a:buFont typeface="Arial" panose="020B0604020202020204" pitchFamily="34" charset="0"/>
              <a:buChar char="•"/>
            </a:pPr>
            <a:r>
              <a:rPr lang="en-US" sz="1000" dirty="0">
                <a:solidFill>
                  <a:srgbClr val="334155"/>
                </a:solidFill>
                <a:latin typeface="Calibri" pitchFamily="34" charset="0"/>
                <a:ea typeface="Calibri" pitchFamily="34" charset="-122"/>
                <a:cs typeface="Calibri" pitchFamily="34" charset="-120"/>
              </a:rPr>
              <a:t>bus factor (experts covering 80% of commits)</a:t>
            </a:r>
          </a:p>
          <a:p>
            <a:pPr marL="171450" indent="-171450">
              <a:buFont typeface="Arial" panose="020B0604020202020204" pitchFamily="34" charset="0"/>
              <a:buChar char="•"/>
            </a:pPr>
            <a:r>
              <a:rPr lang="en-US" sz="1000" dirty="0">
                <a:solidFill>
                  <a:srgbClr val="334155"/>
                </a:solidFill>
                <a:latin typeface="Calibri" pitchFamily="34" charset="0"/>
                <a:ea typeface="Calibri" pitchFamily="34" charset="-122"/>
                <a:cs typeface="Calibri" pitchFamily="34" charset="-120"/>
              </a:rPr>
              <a:t>compliance risk score (composite of all signals)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59669"/>
          </a:solidFill>
          <a:ln/>
        </p:spPr>
        <p:txBody>
          <a:bodyPr/>
          <a:lstStyle/>
          <a:p>
            <a:endParaRPr lang="en-US"/>
          </a:p>
        </p:txBody>
      </p:sp>
      <p:sp>
        <p:nvSpPr>
          <p:cNvPr id="3" name="Text 1"/>
          <p:cNvSpPr/>
          <p:nvPr/>
        </p:nvSpPr>
        <p:spPr>
          <a:xfrm>
            <a:off x="640080" y="182880"/>
            <a:ext cx="4572000" cy="502920"/>
          </a:xfrm>
          <a:prstGeom prst="rect">
            <a:avLst/>
          </a:prstGeom>
          <a:noFill/>
          <a:ln/>
        </p:spPr>
        <p:txBody>
          <a:bodyPr wrap="square" lIns="0" tIns="0" rIns="0" bIns="0" rtlCol="0" anchor="ctr"/>
          <a:lstStyle/>
          <a:p>
            <a:pPr marL="0" indent="0">
              <a:buNone/>
            </a:pPr>
            <a:r>
              <a:rPr lang="en-US" sz="2600" b="1" dirty="0">
                <a:solidFill>
                  <a:srgbClr val="1B2A4A"/>
                </a:solidFill>
                <a:latin typeface="Trebuchet MS" pitchFamily="34" charset="0"/>
                <a:ea typeface="Trebuchet MS" pitchFamily="34" charset="-122"/>
                <a:cs typeface="Trebuchet MS" pitchFamily="34" charset="-120"/>
              </a:rPr>
              <a:t>Level 2: Container Diagram</a:t>
            </a:r>
            <a:endParaRPr lang="en-US" sz="2600" dirty="0"/>
          </a:p>
        </p:txBody>
      </p:sp>
      <p:sp>
        <p:nvSpPr>
          <p:cNvPr id="4" name="Text 2"/>
          <p:cNvSpPr/>
          <p:nvPr/>
        </p:nvSpPr>
        <p:spPr>
          <a:xfrm>
            <a:off x="640080" y="777240"/>
            <a:ext cx="3840480" cy="3931920"/>
          </a:xfrm>
          <a:prstGeom prst="rect">
            <a:avLst/>
          </a:prstGeom>
          <a:noFill/>
          <a:ln/>
        </p:spPr>
        <p:txBody>
          <a:bodyPr wrap="square" lIns="0" tIns="0" rIns="0" bIns="0" rtlCol="0" anchor="t"/>
          <a:lstStyle/>
          <a:p>
            <a:pPr marL="0" indent="0">
              <a:buNone/>
            </a:pPr>
            <a:r>
              <a:rPr lang="en-US" sz="1300" b="1" dirty="0">
                <a:solidFill>
                  <a:srgbClr val="059669"/>
                </a:solidFill>
                <a:latin typeface="Calibri" pitchFamily="34" charset="0"/>
                <a:ea typeface="Calibri" pitchFamily="34" charset="-122"/>
                <a:cs typeface="Calibri" pitchFamily="34" charset="-120"/>
              </a:rPr>
              <a:t>Purpose</a:t>
            </a:r>
            <a:endParaRPr lang="en-US" sz="1300" dirty="0"/>
          </a:p>
          <a:p>
            <a:pPr marL="0" indent="0">
              <a:buNone/>
            </a:pPr>
            <a:r>
              <a:rPr lang="en-US" sz="1200" dirty="0">
                <a:solidFill>
                  <a:srgbClr val="334155"/>
                </a:solidFill>
                <a:latin typeface="Calibri" pitchFamily="34" charset="0"/>
                <a:ea typeface="Calibri" pitchFamily="34" charset="-122"/>
                <a:cs typeface="Calibri" pitchFamily="34" charset="-120"/>
              </a:rPr>
              <a:t>Zoom into the system boundary. Show high-level tech choices and how responsibilities are distributed across deployable units.</a:t>
            </a:r>
            <a:endParaRPr lang="en-US" sz="1300" dirty="0"/>
          </a:p>
          <a:p>
            <a:pPr marL="0" indent="0">
              <a:buNone/>
            </a:pPr>
            <a:endParaRPr lang="en-US" sz="1300" dirty="0"/>
          </a:p>
          <a:p>
            <a:pPr marL="0" indent="0">
              <a:buNone/>
            </a:pPr>
            <a:r>
              <a:rPr lang="en-US" sz="1300" b="1" dirty="0">
                <a:solidFill>
                  <a:srgbClr val="059669"/>
                </a:solidFill>
                <a:latin typeface="Calibri" pitchFamily="34" charset="0"/>
                <a:ea typeface="Calibri" pitchFamily="34" charset="-122"/>
                <a:cs typeface="Calibri" pitchFamily="34" charset="-120"/>
              </a:rPr>
              <a:t>Must Include</a:t>
            </a:r>
            <a:endParaRPr lang="en-US" sz="1300" dirty="0"/>
          </a:p>
          <a:p>
            <a:pPr marL="0" indent="0">
              <a:buNone/>
            </a:pPr>
            <a:r>
              <a:rPr lang="en-US" sz="1100" dirty="0">
                <a:solidFill>
                  <a:srgbClr val="334155"/>
                </a:solidFill>
                <a:latin typeface="Calibri" pitchFamily="34" charset="0"/>
                <a:ea typeface="Calibri" pitchFamily="34" charset="-122"/>
                <a:cs typeface="Calibri" pitchFamily="34" charset="-120"/>
              </a:rPr>
              <a:t>•  Web apps, APIs, workers, CLIs</a:t>
            </a:r>
            <a:endParaRPr lang="en-US" sz="1300" dirty="0"/>
          </a:p>
          <a:p>
            <a:pPr marL="0" indent="0">
              <a:buNone/>
            </a:pPr>
            <a:r>
              <a:rPr lang="en-US" sz="1100" dirty="0">
                <a:solidFill>
                  <a:srgbClr val="334155"/>
                </a:solidFill>
                <a:latin typeface="Calibri" pitchFamily="34" charset="0"/>
                <a:ea typeface="Calibri" pitchFamily="34" charset="-122"/>
                <a:cs typeface="Calibri" pitchFamily="34" charset="-120"/>
              </a:rPr>
              <a:t>•  Shared databases and caches</a:t>
            </a:r>
            <a:endParaRPr lang="en-US" sz="1300" dirty="0"/>
          </a:p>
          <a:p>
            <a:pPr marL="0" indent="0">
              <a:buNone/>
            </a:pPr>
            <a:r>
              <a:rPr lang="en-US" sz="1100" dirty="0">
                <a:solidFill>
                  <a:srgbClr val="334155"/>
                </a:solidFill>
                <a:latin typeface="Calibri" pitchFamily="34" charset="0"/>
                <a:ea typeface="Calibri" pitchFamily="34" charset="-122"/>
                <a:cs typeface="Calibri" pitchFamily="34" charset="-120"/>
              </a:rPr>
              <a:t>•  Message brokers / queues / topics</a:t>
            </a:r>
            <a:endParaRPr lang="en-US" sz="1300" dirty="0"/>
          </a:p>
          <a:p>
            <a:pPr marL="0" indent="0">
              <a:buNone/>
            </a:pPr>
            <a:r>
              <a:rPr lang="en-US" sz="1100" dirty="0">
                <a:solidFill>
                  <a:srgbClr val="334155"/>
                </a:solidFill>
                <a:latin typeface="Calibri" pitchFamily="34" charset="0"/>
                <a:ea typeface="Calibri" pitchFamily="34" charset="-122"/>
                <a:cs typeface="Calibri" pitchFamily="34" charset="-120"/>
              </a:rPr>
              <a:t>•  Technology labels + relationship protocols</a:t>
            </a:r>
            <a:endParaRPr lang="en-US" sz="1300" dirty="0"/>
          </a:p>
          <a:p>
            <a:pPr marL="0" indent="0">
              <a:buNone/>
            </a:pPr>
            <a:endParaRPr lang="en-US" sz="1300" dirty="0"/>
          </a:p>
          <a:p>
            <a:pPr marL="0" indent="0">
              <a:buNone/>
            </a:pPr>
            <a:r>
              <a:rPr lang="en-US" sz="1300" b="1" dirty="0">
                <a:solidFill>
                  <a:srgbClr val="E11D48"/>
                </a:solidFill>
                <a:latin typeface="Calibri" pitchFamily="34" charset="0"/>
                <a:ea typeface="Calibri" pitchFamily="34" charset="-122"/>
                <a:cs typeface="Calibri" pitchFamily="34" charset="-120"/>
              </a:rPr>
              <a:t>Do NOT Include</a:t>
            </a:r>
            <a:endParaRPr lang="en-US" sz="1300" dirty="0"/>
          </a:p>
          <a:p>
            <a:pPr marL="0" indent="0">
              <a:buNone/>
            </a:pPr>
            <a:r>
              <a:rPr lang="en-US" sz="1100" dirty="0">
                <a:solidFill>
                  <a:srgbClr val="334155"/>
                </a:solidFill>
                <a:latin typeface="Calibri" pitchFamily="34" charset="0"/>
                <a:ea typeface="Calibri" pitchFamily="34" charset="-122"/>
                <a:cs typeface="Calibri" pitchFamily="34" charset="-120"/>
              </a:rPr>
              <a:t>•  Internal classes, modules, functions</a:t>
            </a:r>
            <a:endParaRPr lang="en-US" sz="1300" dirty="0"/>
          </a:p>
          <a:p>
            <a:pPr marL="0" indent="0">
              <a:buNone/>
            </a:pPr>
            <a:r>
              <a:rPr lang="en-US" sz="1100" dirty="0">
                <a:solidFill>
                  <a:srgbClr val="334155"/>
                </a:solidFill>
                <a:latin typeface="Calibri" pitchFamily="34" charset="0"/>
                <a:ea typeface="Calibri" pitchFamily="34" charset="-122"/>
                <a:cs typeface="Calibri" pitchFamily="34" charset="-120"/>
              </a:rPr>
              <a:t>•  K8s pods, load balancers (infra details)</a:t>
            </a:r>
            <a:endParaRPr lang="en-US" sz="1300" dirty="0"/>
          </a:p>
        </p:txBody>
      </p:sp>
      <p:sp>
        <p:nvSpPr>
          <p:cNvPr id="5" name="Shape 3"/>
          <p:cNvSpPr/>
          <p:nvPr/>
        </p:nvSpPr>
        <p:spPr>
          <a:xfrm>
            <a:off x="4846320" y="685800"/>
            <a:ext cx="4114800" cy="41148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6" name="Text 4"/>
          <p:cNvSpPr/>
          <p:nvPr/>
        </p:nvSpPr>
        <p:spPr>
          <a:xfrm>
            <a:off x="4937760" y="758952"/>
            <a:ext cx="3840480" cy="256032"/>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Example: Container Diagram</a:t>
            </a:r>
            <a:endParaRPr lang="en-US" sz="1000" dirty="0"/>
          </a:p>
        </p:txBody>
      </p:sp>
      <p:sp>
        <p:nvSpPr>
          <p:cNvPr id="7" name="Shape 5"/>
          <p:cNvSpPr/>
          <p:nvPr/>
        </p:nvSpPr>
        <p:spPr>
          <a:xfrm>
            <a:off x="5029200" y="1097280"/>
            <a:ext cx="3749040" cy="3383280"/>
          </a:xfrm>
          <a:prstGeom prst="rect">
            <a:avLst/>
          </a:prstGeom>
          <a:solidFill>
            <a:srgbClr val="F0FDF4"/>
          </a:solidFill>
          <a:ln w="19050">
            <a:solidFill>
              <a:srgbClr val="059669"/>
            </a:solidFill>
            <a:prstDash val="dash"/>
          </a:ln>
        </p:spPr>
        <p:txBody>
          <a:bodyPr/>
          <a:lstStyle/>
          <a:p>
            <a:endParaRPr lang="en-US"/>
          </a:p>
        </p:txBody>
      </p:sp>
      <p:sp>
        <p:nvSpPr>
          <p:cNvPr id="8" name="Text 6"/>
          <p:cNvSpPr/>
          <p:nvPr/>
        </p:nvSpPr>
        <p:spPr>
          <a:xfrm>
            <a:off x="5120640" y="1143000"/>
            <a:ext cx="3200400" cy="201168"/>
          </a:xfrm>
          <a:prstGeom prst="rect">
            <a:avLst/>
          </a:prstGeom>
          <a:noFill/>
          <a:ln/>
        </p:spPr>
        <p:txBody>
          <a:bodyPr wrap="square" lIns="0" tIns="0" rIns="0" bIns="0" rtlCol="0" anchor="ctr"/>
          <a:lstStyle/>
          <a:p>
            <a:pPr marL="0" indent="0">
              <a:buNone/>
            </a:pPr>
            <a:r>
              <a:rPr lang="en-US" sz="800" b="1" dirty="0">
                <a:solidFill>
                  <a:srgbClr val="059669"/>
                </a:solidFill>
                <a:latin typeface="Calibri" pitchFamily="34" charset="0"/>
                <a:ea typeface="Calibri" pitchFamily="34" charset="-122"/>
                <a:cs typeface="Calibri" pitchFamily="34" charset="-120"/>
              </a:rPr>
              <a:t>KnowledgeForge [System Boundary]</a:t>
            </a:r>
            <a:endParaRPr lang="en-US" sz="800" dirty="0"/>
          </a:p>
        </p:txBody>
      </p:sp>
      <p:sp>
        <p:nvSpPr>
          <p:cNvPr id="9" name="Shape 7"/>
          <p:cNvSpPr/>
          <p:nvPr/>
        </p:nvSpPr>
        <p:spPr>
          <a:xfrm>
            <a:off x="5212080" y="1463040"/>
            <a:ext cx="1417320" cy="685800"/>
          </a:xfrm>
          <a:prstGeom prst="rect">
            <a:avLst/>
          </a:prstGeom>
          <a:solidFill>
            <a:srgbClr val="FFFFFF"/>
          </a:solidFill>
          <a:ln w="19050">
            <a:solidFill>
              <a:srgbClr val="2563EB"/>
            </a:solidFill>
            <a:prstDash val="solid"/>
          </a:ln>
        </p:spPr>
        <p:txBody>
          <a:bodyPr/>
          <a:lstStyle/>
          <a:p>
            <a:endParaRPr lang="en-US"/>
          </a:p>
        </p:txBody>
      </p:sp>
      <p:sp>
        <p:nvSpPr>
          <p:cNvPr id="10" name="Text 8"/>
          <p:cNvSpPr/>
          <p:nvPr/>
        </p:nvSpPr>
        <p:spPr>
          <a:xfrm>
            <a:off x="5212080" y="1463040"/>
            <a:ext cx="1417320" cy="685800"/>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Web Frontend</a:t>
            </a:r>
            <a:endParaRPr lang="en-US" sz="900" dirty="0"/>
          </a:p>
          <a:p>
            <a:pPr marL="0" indent="0" algn="ctr">
              <a:buNone/>
            </a:pPr>
            <a:r>
              <a:rPr lang="en-US" sz="700" dirty="0">
                <a:solidFill>
                  <a:srgbClr val="64748B"/>
                </a:solidFill>
                <a:latin typeface="Calibri" pitchFamily="34" charset="0"/>
                <a:ea typeface="Calibri" pitchFamily="34" charset="-122"/>
                <a:cs typeface="Calibri" pitchFamily="34" charset="-120"/>
              </a:rPr>
              <a:t>[React SPA]</a:t>
            </a:r>
            <a:endParaRPr lang="en-US" sz="900" dirty="0"/>
          </a:p>
        </p:txBody>
      </p:sp>
      <p:sp>
        <p:nvSpPr>
          <p:cNvPr id="11" name="Shape 9"/>
          <p:cNvSpPr/>
          <p:nvPr/>
        </p:nvSpPr>
        <p:spPr>
          <a:xfrm>
            <a:off x="5212080" y="2377440"/>
            <a:ext cx="1417320" cy="685800"/>
          </a:xfrm>
          <a:prstGeom prst="rect">
            <a:avLst/>
          </a:prstGeom>
          <a:solidFill>
            <a:srgbClr val="FFFFFF"/>
          </a:solidFill>
          <a:ln w="19050">
            <a:solidFill>
              <a:srgbClr val="059669"/>
            </a:solidFill>
            <a:prstDash val="solid"/>
          </a:ln>
        </p:spPr>
        <p:txBody>
          <a:bodyPr/>
          <a:lstStyle/>
          <a:p>
            <a:endParaRPr lang="en-US"/>
          </a:p>
        </p:txBody>
      </p:sp>
      <p:sp>
        <p:nvSpPr>
          <p:cNvPr id="12" name="Text 10"/>
          <p:cNvSpPr/>
          <p:nvPr/>
        </p:nvSpPr>
        <p:spPr>
          <a:xfrm>
            <a:off x="5212080" y="2377440"/>
            <a:ext cx="1417320" cy="685800"/>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API Server</a:t>
            </a:r>
            <a:endParaRPr lang="en-US" sz="900" dirty="0"/>
          </a:p>
          <a:p>
            <a:pPr marL="0" indent="0" algn="ctr">
              <a:buNone/>
            </a:pPr>
            <a:r>
              <a:rPr lang="en-US" sz="700" dirty="0">
                <a:solidFill>
                  <a:srgbClr val="64748B"/>
                </a:solidFill>
                <a:latin typeface="Calibri" pitchFamily="34" charset="0"/>
                <a:ea typeface="Calibri" pitchFamily="34" charset="-122"/>
                <a:cs typeface="Calibri" pitchFamily="34" charset="-120"/>
              </a:rPr>
              <a:t>[Python / FastAPI]</a:t>
            </a:r>
            <a:endParaRPr lang="en-US" sz="900" dirty="0"/>
          </a:p>
        </p:txBody>
      </p:sp>
      <p:sp>
        <p:nvSpPr>
          <p:cNvPr id="13" name="Shape 11"/>
          <p:cNvSpPr/>
          <p:nvPr/>
        </p:nvSpPr>
        <p:spPr>
          <a:xfrm>
            <a:off x="6903720" y="2377440"/>
            <a:ext cx="1417320" cy="685800"/>
          </a:xfrm>
          <a:prstGeom prst="rect">
            <a:avLst/>
          </a:prstGeom>
          <a:solidFill>
            <a:srgbClr val="FFFFFF"/>
          </a:solidFill>
          <a:ln w="19050">
            <a:solidFill>
              <a:srgbClr val="059669"/>
            </a:solidFill>
            <a:prstDash val="solid"/>
          </a:ln>
        </p:spPr>
        <p:txBody>
          <a:bodyPr/>
          <a:lstStyle/>
          <a:p>
            <a:endParaRPr lang="en-US"/>
          </a:p>
        </p:txBody>
      </p:sp>
      <p:sp>
        <p:nvSpPr>
          <p:cNvPr id="14" name="Text 12"/>
          <p:cNvSpPr/>
          <p:nvPr/>
        </p:nvSpPr>
        <p:spPr>
          <a:xfrm>
            <a:off x="6903720" y="2377440"/>
            <a:ext cx="1417320" cy="685800"/>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C4 Pipeline</a:t>
            </a:r>
            <a:endParaRPr lang="en-US" sz="900" dirty="0"/>
          </a:p>
          <a:p>
            <a:pPr marL="0" indent="0" algn="ctr">
              <a:buNone/>
            </a:pPr>
            <a:r>
              <a:rPr lang="en-US" sz="700" dirty="0">
                <a:solidFill>
                  <a:srgbClr val="64748B"/>
                </a:solidFill>
                <a:latin typeface="Calibri" pitchFamily="34" charset="0"/>
                <a:ea typeface="Calibri" pitchFamily="34" charset="-122"/>
                <a:cs typeface="Calibri" pitchFamily="34" charset="-120"/>
              </a:rPr>
              <a:t>[Python / tree-sitter]</a:t>
            </a:r>
            <a:endParaRPr lang="en-US" sz="900" dirty="0"/>
          </a:p>
        </p:txBody>
      </p:sp>
      <p:sp>
        <p:nvSpPr>
          <p:cNvPr id="15" name="Shape 13"/>
          <p:cNvSpPr/>
          <p:nvPr/>
        </p:nvSpPr>
        <p:spPr>
          <a:xfrm>
            <a:off x="5212080" y="3337560"/>
            <a:ext cx="1417320" cy="685800"/>
          </a:xfrm>
          <a:prstGeom prst="rect">
            <a:avLst/>
          </a:prstGeom>
          <a:solidFill>
            <a:srgbClr val="FFFFFF"/>
          </a:solidFill>
          <a:ln w="19050">
            <a:solidFill>
              <a:srgbClr val="D97706"/>
            </a:solidFill>
            <a:prstDash val="solid"/>
          </a:ln>
        </p:spPr>
        <p:txBody>
          <a:bodyPr/>
          <a:lstStyle/>
          <a:p>
            <a:endParaRPr lang="en-US"/>
          </a:p>
        </p:txBody>
      </p:sp>
      <p:sp>
        <p:nvSpPr>
          <p:cNvPr id="16" name="Text 14"/>
          <p:cNvSpPr/>
          <p:nvPr/>
        </p:nvSpPr>
        <p:spPr>
          <a:xfrm>
            <a:off x="5212080" y="3337560"/>
            <a:ext cx="1417320" cy="685800"/>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PostgreSQL</a:t>
            </a:r>
            <a:endParaRPr lang="en-US" sz="900" dirty="0"/>
          </a:p>
          <a:p>
            <a:pPr marL="0" indent="0" algn="ctr">
              <a:buNone/>
            </a:pPr>
            <a:r>
              <a:rPr lang="en-US" sz="700" dirty="0">
                <a:solidFill>
                  <a:srgbClr val="64748B"/>
                </a:solidFill>
                <a:latin typeface="Calibri" pitchFamily="34" charset="0"/>
                <a:ea typeface="Calibri" pitchFamily="34" charset="-122"/>
                <a:cs typeface="Calibri" pitchFamily="34" charset="-120"/>
              </a:rPr>
              <a:t>[Database]</a:t>
            </a:r>
            <a:endParaRPr lang="en-US" sz="900" dirty="0"/>
          </a:p>
        </p:txBody>
      </p:sp>
      <p:sp>
        <p:nvSpPr>
          <p:cNvPr id="17" name="Shape 15"/>
          <p:cNvSpPr/>
          <p:nvPr/>
        </p:nvSpPr>
        <p:spPr>
          <a:xfrm>
            <a:off x="6903720" y="3337560"/>
            <a:ext cx="1417320" cy="685800"/>
          </a:xfrm>
          <a:prstGeom prst="rect">
            <a:avLst/>
          </a:prstGeom>
          <a:solidFill>
            <a:srgbClr val="FFFFFF"/>
          </a:solidFill>
          <a:ln w="19050">
            <a:solidFill>
              <a:srgbClr val="D97706"/>
            </a:solidFill>
            <a:prstDash val="solid"/>
          </a:ln>
        </p:spPr>
        <p:txBody>
          <a:bodyPr/>
          <a:lstStyle/>
          <a:p>
            <a:endParaRPr lang="en-US"/>
          </a:p>
        </p:txBody>
      </p:sp>
      <p:sp>
        <p:nvSpPr>
          <p:cNvPr id="18" name="Text 16"/>
          <p:cNvSpPr/>
          <p:nvPr/>
        </p:nvSpPr>
        <p:spPr>
          <a:xfrm>
            <a:off x="6903720" y="3337560"/>
            <a:ext cx="1417320" cy="685800"/>
          </a:xfrm>
          <a:prstGeom prst="rect">
            <a:avLst/>
          </a:prstGeom>
          <a:noFill/>
          <a:ln/>
        </p:spPr>
        <p:txBody>
          <a:bodyPr wrap="square" lIns="0" tIns="0" rIns="0" bIns="0" rtlCol="0" anchor="ctr"/>
          <a:lstStyle/>
          <a:p>
            <a:pPr marL="0" indent="0" algn="ctr">
              <a:buNone/>
            </a:pPr>
            <a:r>
              <a:rPr lang="en-US" sz="900" b="1" dirty="0">
                <a:solidFill>
                  <a:srgbClr val="0F172A"/>
                </a:solidFill>
                <a:latin typeface="Calibri" pitchFamily="34" charset="0"/>
                <a:ea typeface="Calibri" pitchFamily="34" charset="-122"/>
                <a:cs typeface="Calibri" pitchFamily="34" charset="-120"/>
              </a:rPr>
              <a:t>Neo4j</a:t>
            </a:r>
            <a:endParaRPr lang="en-US" sz="900" dirty="0"/>
          </a:p>
          <a:p>
            <a:pPr marL="0" indent="0" algn="ctr">
              <a:buNone/>
            </a:pPr>
            <a:r>
              <a:rPr lang="en-US" sz="700" dirty="0">
                <a:solidFill>
                  <a:srgbClr val="64748B"/>
                </a:solidFill>
                <a:latin typeface="Calibri" pitchFamily="34" charset="0"/>
                <a:ea typeface="Calibri" pitchFamily="34" charset="-122"/>
                <a:cs typeface="Calibri" pitchFamily="34" charset="-120"/>
              </a:rPr>
              <a:t>[Graph DB]</a:t>
            </a:r>
            <a:endParaRPr lang="en-US" sz="900" dirty="0"/>
          </a:p>
        </p:txBody>
      </p:sp>
      <p:sp>
        <p:nvSpPr>
          <p:cNvPr id="19" name="Shape 17"/>
          <p:cNvSpPr/>
          <p:nvPr/>
        </p:nvSpPr>
        <p:spPr>
          <a:xfrm>
            <a:off x="5916168" y="2148840"/>
            <a:ext cx="0" cy="228600"/>
          </a:xfrm>
          <a:prstGeom prst="line">
            <a:avLst/>
          </a:prstGeom>
          <a:noFill/>
          <a:ln w="12700">
            <a:solidFill>
              <a:srgbClr val="64748B"/>
            </a:solidFill>
            <a:prstDash val="solid"/>
          </a:ln>
        </p:spPr>
        <p:txBody>
          <a:bodyPr/>
          <a:lstStyle/>
          <a:p>
            <a:endParaRPr lang="en-US"/>
          </a:p>
        </p:txBody>
      </p:sp>
      <p:sp>
        <p:nvSpPr>
          <p:cNvPr id="20" name="Shape 18"/>
          <p:cNvSpPr/>
          <p:nvPr/>
        </p:nvSpPr>
        <p:spPr>
          <a:xfrm>
            <a:off x="6629400" y="2715768"/>
            <a:ext cx="274320" cy="0"/>
          </a:xfrm>
          <a:prstGeom prst="line">
            <a:avLst/>
          </a:prstGeom>
          <a:noFill/>
          <a:ln w="12700">
            <a:solidFill>
              <a:srgbClr val="64748B"/>
            </a:solidFill>
            <a:prstDash val="solid"/>
          </a:ln>
        </p:spPr>
        <p:txBody>
          <a:bodyPr/>
          <a:lstStyle/>
          <a:p>
            <a:endParaRPr lang="en-US"/>
          </a:p>
        </p:txBody>
      </p:sp>
      <p:sp>
        <p:nvSpPr>
          <p:cNvPr id="21" name="Shape 19"/>
          <p:cNvSpPr/>
          <p:nvPr/>
        </p:nvSpPr>
        <p:spPr>
          <a:xfrm>
            <a:off x="5916168" y="3063240"/>
            <a:ext cx="0" cy="274320"/>
          </a:xfrm>
          <a:prstGeom prst="line">
            <a:avLst/>
          </a:prstGeom>
          <a:noFill/>
          <a:ln w="12700">
            <a:solidFill>
              <a:srgbClr val="64748B"/>
            </a:solidFill>
            <a:prstDash val="solid"/>
          </a:ln>
        </p:spPr>
        <p:txBody>
          <a:bodyPr/>
          <a:lstStyle/>
          <a:p>
            <a:endParaRPr lang="en-US"/>
          </a:p>
        </p:txBody>
      </p:sp>
      <p:sp>
        <p:nvSpPr>
          <p:cNvPr id="22" name="Shape 20"/>
          <p:cNvSpPr/>
          <p:nvPr/>
        </p:nvSpPr>
        <p:spPr>
          <a:xfrm>
            <a:off x="7607808" y="3063240"/>
            <a:ext cx="0" cy="274320"/>
          </a:xfrm>
          <a:prstGeom prst="line">
            <a:avLst/>
          </a:prstGeom>
          <a:noFill/>
          <a:ln w="12700">
            <a:solidFill>
              <a:srgbClr val="64748B"/>
            </a:solidFill>
            <a:prstDash val="solid"/>
          </a:ln>
        </p:spPr>
        <p:txBody>
          <a:bodyPr/>
          <a:lstStyle/>
          <a:p>
            <a:endParaRPr lang="en-US"/>
          </a:p>
        </p:txBody>
      </p:sp>
      <p:sp>
        <p:nvSpPr>
          <p:cNvPr id="23" name="Text 21"/>
          <p:cNvSpPr/>
          <p:nvPr/>
        </p:nvSpPr>
        <p:spPr>
          <a:xfrm>
            <a:off x="5989320" y="2167128"/>
            <a:ext cx="457200" cy="164592"/>
          </a:xfrm>
          <a:prstGeom prst="rect">
            <a:avLst/>
          </a:prstGeom>
          <a:noFill/>
          <a:ln/>
        </p:spPr>
        <p:txBody>
          <a:bodyPr wrap="square" lIns="0" tIns="0" rIns="0" bIns="0" rtlCol="0" anchor="ctr"/>
          <a:lstStyle/>
          <a:p>
            <a:pPr marL="0" indent="0">
              <a:buNone/>
            </a:pPr>
            <a:r>
              <a:rPr lang="en-US" sz="700" dirty="0">
                <a:solidFill>
                  <a:srgbClr val="64748B"/>
                </a:solidFill>
                <a:latin typeface="Calibri" pitchFamily="34" charset="0"/>
                <a:ea typeface="Calibri" pitchFamily="34" charset="-122"/>
                <a:cs typeface="Calibri" pitchFamily="34" charset="-120"/>
              </a:rPr>
              <a:t>REST</a:t>
            </a:r>
            <a:endParaRPr lang="en-US" sz="700" dirty="0"/>
          </a:p>
        </p:txBody>
      </p:sp>
      <p:sp>
        <p:nvSpPr>
          <p:cNvPr id="24" name="Text 22"/>
          <p:cNvSpPr/>
          <p:nvPr/>
        </p:nvSpPr>
        <p:spPr>
          <a:xfrm>
            <a:off x="5989320" y="3108960"/>
            <a:ext cx="457200" cy="164592"/>
          </a:xfrm>
          <a:prstGeom prst="rect">
            <a:avLst/>
          </a:prstGeom>
          <a:noFill/>
          <a:ln/>
        </p:spPr>
        <p:txBody>
          <a:bodyPr wrap="square" lIns="0" tIns="0" rIns="0" bIns="0" rtlCol="0" anchor="ctr"/>
          <a:lstStyle/>
          <a:p>
            <a:pPr marL="0" indent="0">
              <a:buNone/>
            </a:pPr>
            <a:r>
              <a:rPr lang="en-US" sz="700" dirty="0">
                <a:solidFill>
                  <a:srgbClr val="64748B"/>
                </a:solidFill>
                <a:latin typeface="Calibri" pitchFamily="34" charset="0"/>
                <a:ea typeface="Calibri" pitchFamily="34" charset="-122"/>
                <a:cs typeface="Calibri" pitchFamily="34" charset="-120"/>
              </a:rPr>
              <a:t>SQL</a:t>
            </a:r>
            <a:endParaRPr lang="en-US" sz="700" dirty="0"/>
          </a:p>
        </p:txBody>
      </p:sp>
      <p:sp>
        <p:nvSpPr>
          <p:cNvPr id="25" name="Text 23"/>
          <p:cNvSpPr/>
          <p:nvPr/>
        </p:nvSpPr>
        <p:spPr>
          <a:xfrm>
            <a:off x="7680960" y="3108960"/>
            <a:ext cx="548640" cy="164592"/>
          </a:xfrm>
          <a:prstGeom prst="rect">
            <a:avLst/>
          </a:prstGeom>
          <a:noFill/>
          <a:ln/>
        </p:spPr>
        <p:txBody>
          <a:bodyPr wrap="square" lIns="0" tIns="0" rIns="0" bIns="0" rtlCol="0" anchor="ctr"/>
          <a:lstStyle/>
          <a:p>
            <a:pPr marL="0" indent="0">
              <a:buNone/>
            </a:pPr>
            <a:r>
              <a:rPr lang="en-US" sz="700" dirty="0">
                <a:solidFill>
                  <a:srgbClr val="64748B"/>
                </a:solidFill>
                <a:latin typeface="Calibri" pitchFamily="34" charset="0"/>
                <a:ea typeface="Calibri" pitchFamily="34" charset="-122"/>
                <a:cs typeface="Calibri" pitchFamily="34" charset="-120"/>
              </a:rPr>
              <a:t>Cypher</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59669"/>
          </a:solidFill>
          <a:ln/>
        </p:spPr>
        <p:txBody>
          <a:bodyPr/>
          <a:lstStyle/>
          <a:p>
            <a:endParaRPr lang="en-US"/>
          </a:p>
        </p:txBody>
      </p:sp>
      <p:sp>
        <p:nvSpPr>
          <p:cNvPr id="3" name="Text 1"/>
          <p:cNvSpPr/>
          <p:nvPr/>
        </p:nvSpPr>
        <p:spPr>
          <a:xfrm>
            <a:off x="640080" y="182880"/>
            <a:ext cx="8229600" cy="502920"/>
          </a:xfrm>
          <a:prstGeom prst="rect">
            <a:avLst/>
          </a:prstGeom>
          <a:noFill/>
          <a:ln/>
        </p:spPr>
        <p:txBody>
          <a:bodyPr wrap="square" lIns="0" tIns="0" rIns="0" bIns="0" rtlCol="0" anchor="ctr"/>
          <a:lstStyle/>
          <a:p>
            <a:pPr marL="0" indent="0">
              <a:buNone/>
            </a:pPr>
            <a:r>
              <a:rPr lang="en-US" sz="2400" b="1" dirty="0">
                <a:solidFill>
                  <a:srgbClr val="1B2A4A"/>
                </a:solidFill>
                <a:latin typeface="Trebuchet MS" pitchFamily="34" charset="0"/>
                <a:ea typeface="Trebuchet MS" pitchFamily="34" charset="-122"/>
                <a:cs typeface="Trebuchet MS" pitchFamily="34" charset="-120"/>
              </a:rPr>
              <a:t>L2 Practical: What Belongs at Container Level?</a:t>
            </a:r>
            <a:endParaRPr lang="en-US" sz="2400" dirty="0"/>
          </a:p>
        </p:txBody>
      </p:sp>
      <p:sp>
        <p:nvSpPr>
          <p:cNvPr id="4" name="Text 2"/>
          <p:cNvSpPr/>
          <p:nvPr/>
        </p:nvSpPr>
        <p:spPr>
          <a:xfrm>
            <a:off x="640080" y="685800"/>
            <a:ext cx="7863840" cy="22860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Sources: c4model.com official guidance, Blewitt (2024) practitioner recommendations</a:t>
            </a:r>
            <a:endParaRPr lang="en-US" sz="1000" dirty="0"/>
          </a:p>
        </p:txBody>
      </p:sp>
      <p:sp>
        <p:nvSpPr>
          <p:cNvPr id="5" name="Shape 3"/>
          <p:cNvSpPr/>
          <p:nvPr/>
        </p:nvSpPr>
        <p:spPr>
          <a:xfrm>
            <a:off x="640080" y="1051560"/>
            <a:ext cx="3840480" cy="37490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6" name="Shape 4"/>
          <p:cNvSpPr/>
          <p:nvPr/>
        </p:nvSpPr>
        <p:spPr>
          <a:xfrm>
            <a:off x="640080" y="1051560"/>
            <a:ext cx="3840480" cy="365760"/>
          </a:xfrm>
          <a:prstGeom prst="rect">
            <a:avLst/>
          </a:prstGeom>
          <a:solidFill>
            <a:srgbClr val="059669"/>
          </a:solidFill>
          <a:ln/>
        </p:spPr>
        <p:txBody>
          <a:bodyPr/>
          <a:lstStyle/>
          <a:p>
            <a:endParaRPr lang="en-US"/>
          </a:p>
        </p:txBody>
      </p:sp>
      <p:sp>
        <p:nvSpPr>
          <p:cNvPr id="7" name="Text 5"/>
          <p:cNvSpPr/>
          <p:nvPr/>
        </p:nvSpPr>
        <p:spPr>
          <a:xfrm>
            <a:off x="822960" y="1051560"/>
            <a:ext cx="3474720" cy="365760"/>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YES — Model as Container</a:t>
            </a:r>
            <a:endParaRPr lang="en-US" sz="1300" dirty="0"/>
          </a:p>
        </p:txBody>
      </p:sp>
      <p:sp>
        <p:nvSpPr>
          <p:cNvPr id="8" name="Text 6"/>
          <p:cNvSpPr/>
          <p:nvPr/>
        </p:nvSpPr>
        <p:spPr>
          <a:xfrm>
            <a:off x="822960" y="1508760"/>
            <a:ext cx="3474720" cy="3200400"/>
          </a:xfrm>
          <a:prstGeom prst="rect">
            <a:avLst/>
          </a:prstGeom>
          <a:noFill/>
          <a:ln/>
        </p:spPr>
        <p:txBody>
          <a:bodyPr wrap="square" lIns="0" tIns="0" rIns="0" bIns="0" rtlCol="0" anchor="t"/>
          <a:lstStyle/>
          <a:p>
            <a:pPr marL="0" indent="0">
              <a:buNone/>
            </a:pPr>
            <a:r>
              <a:rPr lang="en-US" sz="1100" b="1" dirty="0">
                <a:solidFill>
                  <a:srgbClr val="0F172A"/>
                </a:solidFill>
                <a:latin typeface="Calibri" pitchFamily="34" charset="0"/>
                <a:ea typeface="Calibri" pitchFamily="34" charset="-122"/>
                <a:cs typeface="Calibri" pitchFamily="34" charset="-120"/>
              </a:rPr>
              <a:t>Shared databases</a:t>
            </a:r>
            <a:endParaRPr lang="en-US" sz="1100" dirty="0"/>
          </a:p>
          <a:p>
            <a:pPr marL="0" indent="0">
              <a:buNone/>
            </a:pPr>
            <a:r>
              <a:rPr lang="en-US" sz="1000" dirty="0">
                <a:solidFill>
                  <a:srgbClr val="334155"/>
                </a:solidFill>
                <a:latin typeface="Calibri" pitchFamily="34" charset="0"/>
                <a:ea typeface="Calibri" pitchFamily="34" charset="-122"/>
                <a:cs typeface="Calibri" pitchFamily="34" charset="-120"/>
              </a:rPr>
              <a:t>Used by multiple services → first-class citizen at L2</a:t>
            </a:r>
            <a:endParaRPr lang="en-US" sz="1100" dirty="0"/>
          </a:p>
          <a:p>
            <a:pPr marL="0" indent="0">
              <a:buNone/>
            </a:pPr>
            <a:endParaRPr lang="en-US" sz="1100" dirty="0"/>
          </a:p>
          <a:p>
            <a:pPr marL="0" indent="0">
              <a:buNone/>
            </a:pPr>
            <a:r>
              <a:rPr lang="en-US" sz="1100" b="1" dirty="0">
                <a:solidFill>
                  <a:srgbClr val="0F172A"/>
                </a:solidFill>
                <a:latin typeface="Calibri" pitchFamily="34" charset="0"/>
                <a:ea typeface="Calibri" pitchFamily="34" charset="-122"/>
                <a:cs typeface="Calibri" pitchFamily="34" charset="-120"/>
              </a:rPr>
              <a:t>Message brokers (Kafka, RabbitMQ)</a:t>
            </a:r>
            <a:endParaRPr lang="en-US" sz="1100" dirty="0"/>
          </a:p>
          <a:p>
            <a:pPr marL="0" indent="0">
              <a:buNone/>
            </a:pPr>
            <a:r>
              <a:rPr lang="en-US" sz="1000" dirty="0">
                <a:solidFill>
                  <a:srgbClr val="334155"/>
                </a:solidFill>
                <a:latin typeface="Calibri" pitchFamily="34" charset="0"/>
                <a:ea typeface="Calibri" pitchFamily="34" charset="-122"/>
                <a:cs typeface="Calibri" pitchFamily="34" charset="-120"/>
              </a:rPr>
              <a:t>c4model.com: model individual queues/topics as containers, not the broker itself. Or simplify by putting queue names on arrows.</a:t>
            </a:r>
            <a:endParaRPr lang="en-US" sz="1100" dirty="0"/>
          </a:p>
          <a:p>
            <a:pPr marL="0" indent="0">
              <a:buNone/>
            </a:pPr>
            <a:endParaRPr lang="en-US" sz="1100" dirty="0"/>
          </a:p>
          <a:p>
            <a:pPr marL="0" indent="0">
              <a:buNone/>
            </a:pPr>
            <a:r>
              <a:rPr lang="en-US" sz="1100" b="1" dirty="0">
                <a:solidFill>
                  <a:srgbClr val="0F172A"/>
                </a:solidFill>
                <a:latin typeface="Calibri" pitchFamily="34" charset="0"/>
                <a:ea typeface="Calibri" pitchFamily="34" charset="-122"/>
                <a:cs typeface="Calibri" pitchFamily="34" charset="-120"/>
              </a:rPr>
              <a:t>Backend APIs, web apps, mobile apps</a:t>
            </a:r>
            <a:endParaRPr lang="en-US" sz="1100" dirty="0"/>
          </a:p>
          <a:p>
            <a:pPr marL="0" indent="0">
              <a:buNone/>
            </a:pPr>
            <a:r>
              <a:rPr lang="en-US" sz="1000" dirty="0">
                <a:solidFill>
                  <a:srgbClr val="334155"/>
                </a:solidFill>
                <a:latin typeface="Calibri" pitchFamily="34" charset="0"/>
                <a:ea typeface="Calibri" pitchFamily="34" charset="-122"/>
                <a:cs typeface="Calibri" pitchFamily="34" charset="-120"/>
              </a:rPr>
              <a:t>Separately deployable → always a container</a:t>
            </a:r>
            <a:endParaRPr lang="en-US" sz="1100" dirty="0"/>
          </a:p>
          <a:p>
            <a:pPr marL="0" indent="0">
              <a:buNone/>
            </a:pPr>
            <a:endParaRPr lang="en-US" sz="1100" dirty="0"/>
          </a:p>
          <a:p>
            <a:pPr marL="0" indent="0">
              <a:buNone/>
            </a:pPr>
            <a:r>
              <a:rPr lang="en-US" sz="1100" b="1" dirty="0">
                <a:solidFill>
                  <a:srgbClr val="0F172A"/>
                </a:solidFill>
                <a:latin typeface="Calibri" pitchFamily="34" charset="0"/>
                <a:ea typeface="Calibri" pitchFamily="34" charset="-122"/>
                <a:cs typeface="Calibri" pitchFamily="34" charset="-120"/>
              </a:rPr>
              <a:t>Serverless functions, workers, cron jobs</a:t>
            </a:r>
            <a:endParaRPr lang="en-US" sz="1100" dirty="0"/>
          </a:p>
          <a:p>
            <a:pPr marL="0" indent="0">
              <a:buNone/>
            </a:pPr>
            <a:r>
              <a:rPr lang="en-US" sz="1000" dirty="0">
                <a:solidFill>
                  <a:srgbClr val="334155"/>
                </a:solidFill>
                <a:latin typeface="Calibri" pitchFamily="34" charset="0"/>
                <a:ea typeface="Calibri" pitchFamily="34" charset="-122"/>
                <a:cs typeface="Calibri" pitchFamily="34" charset="-120"/>
              </a:rPr>
              <a:t>If independently deployed/invoked</a:t>
            </a:r>
            <a:endParaRPr lang="en-US" sz="1100" dirty="0"/>
          </a:p>
          <a:p>
            <a:pPr marL="0" indent="0">
              <a:buNone/>
            </a:pPr>
            <a:endParaRPr lang="en-US" sz="1100" dirty="0"/>
          </a:p>
          <a:p>
            <a:pPr marL="0" indent="0">
              <a:buNone/>
            </a:pPr>
            <a:r>
              <a:rPr lang="en-US" sz="1100" b="1" dirty="0">
                <a:solidFill>
                  <a:srgbClr val="0F172A"/>
                </a:solidFill>
                <a:latin typeface="Calibri" pitchFamily="34" charset="0"/>
                <a:ea typeface="Calibri" pitchFamily="34" charset="-122"/>
                <a:cs typeface="Calibri" pitchFamily="34" charset="-120"/>
              </a:rPr>
              <a:t>Shared blob/object storage</a:t>
            </a:r>
            <a:endParaRPr lang="en-US" sz="1100" dirty="0"/>
          </a:p>
          <a:p>
            <a:pPr marL="0" indent="0">
              <a:buNone/>
            </a:pPr>
            <a:r>
              <a:rPr lang="en-US" sz="1000" dirty="0">
                <a:solidFill>
                  <a:srgbClr val="334155"/>
                </a:solidFill>
                <a:latin typeface="Calibri" pitchFamily="34" charset="0"/>
                <a:ea typeface="Calibri" pitchFamily="34" charset="-122"/>
                <a:cs typeface="Calibri" pitchFamily="34" charset="-120"/>
              </a:rPr>
              <a:t>S3 buckets used by multiple services</a:t>
            </a:r>
            <a:endParaRPr lang="en-US" sz="1100" dirty="0"/>
          </a:p>
        </p:txBody>
      </p:sp>
      <p:sp>
        <p:nvSpPr>
          <p:cNvPr id="9" name="Shape 7"/>
          <p:cNvSpPr/>
          <p:nvPr/>
        </p:nvSpPr>
        <p:spPr>
          <a:xfrm>
            <a:off x="4663440" y="1051560"/>
            <a:ext cx="3840480" cy="37490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0" name="Shape 8"/>
          <p:cNvSpPr/>
          <p:nvPr/>
        </p:nvSpPr>
        <p:spPr>
          <a:xfrm>
            <a:off x="4663440" y="1051560"/>
            <a:ext cx="3840480" cy="365760"/>
          </a:xfrm>
          <a:prstGeom prst="rect">
            <a:avLst/>
          </a:prstGeom>
          <a:solidFill>
            <a:srgbClr val="E11D48"/>
          </a:solidFill>
          <a:ln/>
        </p:spPr>
        <p:txBody>
          <a:bodyPr/>
          <a:lstStyle/>
          <a:p>
            <a:endParaRPr lang="en-US"/>
          </a:p>
        </p:txBody>
      </p:sp>
      <p:sp>
        <p:nvSpPr>
          <p:cNvPr id="11" name="Text 9"/>
          <p:cNvSpPr/>
          <p:nvPr/>
        </p:nvSpPr>
        <p:spPr>
          <a:xfrm>
            <a:off x="4846320" y="1051560"/>
            <a:ext cx="3474720" cy="365760"/>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NO — Push Down to L3 or Omit</a:t>
            </a:r>
            <a:endParaRPr lang="en-US" sz="1300" dirty="0"/>
          </a:p>
        </p:txBody>
      </p:sp>
      <p:sp>
        <p:nvSpPr>
          <p:cNvPr id="12" name="Text 10"/>
          <p:cNvSpPr/>
          <p:nvPr/>
        </p:nvSpPr>
        <p:spPr>
          <a:xfrm>
            <a:off x="4846320" y="1508760"/>
            <a:ext cx="3474720" cy="3200400"/>
          </a:xfrm>
          <a:prstGeom prst="rect">
            <a:avLst/>
          </a:prstGeom>
          <a:noFill/>
          <a:ln/>
        </p:spPr>
        <p:txBody>
          <a:bodyPr wrap="square" lIns="0" tIns="0" rIns="0" bIns="0" rtlCol="0" anchor="t"/>
          <a:lstStyle/>
          <a:p>
            <a:pPr marL="0" indent="0">
              <a:buNone/>
            </a:pPr>
            <a:r>
              <a:rPr lang="en-US" sz="1100" b="1" dirty="0">
                <a:solidFill>
                  <a:srgbClr val="0F172A"/>
                </a:solidFill>
                <a:latin typeface="Calibri" pitchFamily="34" charset="0"/>
                <a:ea typeface="Calibri" pitchFamily="34" charset="-122"/>
                <a:cs typeface="Calibri" pitchFamily="34" charset="-120"/>
              </a:rPr>
              <a:t>Private databases</a:t>
            </a:r>
            <a:endParaRPr lang="en-US" sz="1100" dirty="0"/>
          </a:p>
          <a:p>
            <a:pPr marL="0" indent="0">
              <a:buNone/>
            </a:pPr>
            <a:r>
              <a:rPr lang="en-US" sz="1000" dirty="0">
                <a:solidFill>
                  <a:srgbClr val="334155"/>
                </a:solidFill>
                <a:latin typeface="Calibri" pitchFamily="34" charset="0"/>
                <a:ea typeface="Calibri" pitchFamily="34" charset="-122"/>
                <a:cs typeface="Calibri" pitchFamily="34" charset="-120"/>
              </a:rPr>
              <a:t>"If a team uses MongoDB internally, that's an implementation concern" → push to L3 component</a:t>
            </a:r>
            <a:endParaRPr lang="en-US" sz="1100" dirty="0"/>
          </a:p>
          <a:p>
            <a:pPr marL="0" indent="0">
              <a:buNone/>
            </a:pPr>
            <a:endParaRPr lang="en-US" sz="1100" dirty="0"/>
          </a:p>
          <a:p>
            <a:pPr marL="0" indent="0">
              <a:buNone/>
            </a:pPr>
            <a:r>
              <a:rPr lang="en-US" sz="1100" b="1" dirty="0">
                <a:solidFill>
                  <a:srgbClr val="0F172A"/>
                </a:solidFill>
                <a:latin typeface="Calibri" pitchFamily="34" charset="0"/>
                <a:ea typeface="Calibri" pitchFamily="34" charset="-122"/>
                <a:cs typeface="Calibri" pitchFamily="34" charset="-120"/>
              </a:rPr>
              <a:t>The broker itself (e.g. "Kafka cluster")</a:t>
            </a:r>
            <a:endParaRPr lang="en-US" sz="1100" dirty="0"/>
          </a:p>
          <a:p>
            <a:pPr marL="0" indent="0">
              <a:buNone/>
            </a:pPr>
            <a:r>
              <a:rPr lang="en-US" sz="1000" dirty="0">
                <a:solidFill>
                  <a:srgbClr val="334155"/>
                </a:solidFill>
                <a:latin typeface="Calibri" pitchFamily="34" charset="0"/>
                <a:ea typeface="Calibri" pitchFamily="34" charset="-122"/>
                <a:cs typeface="Calibri" pitchFamily="34" charset="-120"/>
              </a:rPr>
              <a:t>Model queues/topics, not the infrastructure running them. Broker = deployment detail.</a:t>
            </a:r>
            <a:endParaRPr lang="en-US" sz="1100" dirty="0"/>
          </a:p>
          <a:p>
            <a:pPr marL="0" indent="0">
              <a:buNone/>
            </a:pPr>
            <a:endParaRPr lang="en-US" sz="1100" dirty="0"/>
          </a:p>
          <a:p>
            <a:pPr marL="0" indent="0">
              <a:buNone/>
            </a:pPr>
            <a:r>
              <a:rPr lang="en-US" sz="1100" b="1" dirty="0">
                <a:solidFill>
                  <a:srgbClr val="0F172A"/>
                </a:solidFill>
                <a:latin typeface="Calibri" pitchFamily="34" charset="0"/>
                <a:ea typeface="Calibri" pitchFamily="34" charset="-122"/>
                <a:cs typeface="Calibri" pitchFamily="34" charset="-120"/>
              </a:rPr>
              <a:t>Load balancers, service mesh, K8s pods</a:t>
            </a:r>
            <a:endParaRPr lang="en-US" sz="1100" dirty="0"/>
          </a:p>
          <a:p>
            <a:pPr marL="0" indent="0">
              <a:buNone/>
            </a:pPr>
            <a:r>
              <a:rPr lang="en-US" sz="1000" dirty="0">
                <a:solidFill>
                  <a:srgbClr val="334155"/>
                </a:solidFill>
                <a:latin typeface="Calibri" pitchFamily="34" charset="0"/>
                <a:ea typeface="Calibri" pitchFamily="34" charset="-122"/>
                <a:cs typeface="Calibri" pitchFamily="34" charset="-120"/>
              </a:rPr>
              <a:t>Infrastructure plumbing, not architectural containers. Use deployment diagrams instead.</a:t>
            </a:r>
            <a:endParaRPr lang="en-US" sz="1100" dirty="0"/>
          </a:p>
          <a:p>
            <a:pPr marL="0" indent="0">
              <a:buNone/>
            </a:pPr>
            <a:endParaRPr lang="en-US" sz="1100" dirty="0"/>
          </a:p>
          <a:p>
            <a:pPr marL="0" indent="0">
              <a:buNone/>
            </a:pPr>
            <a:r>
              <a:rPr lang="en-US" sz="1100" b="1" dirty="0">
                <a:solidFill>
                  <a:srgbClr val="0F172A"/>
                </a:solidFill>
                <a:latin typeface="Calibri" pitchFamily="34" charset="0"/>
                <a:ea typeface="Calibri" pitchFamily="34" charset="-122"/>
                <a:cs typeface="Calibri" pitchFamily="34" charset="-120"/>
              </a:rPr>
              <a:t>Internal classes/modules</a:t>
            </a:r>
            <a:endParaRPr lang="en-US" sz="1100" dirty="0"/>
          </a:p>
          <a:p>
            <a:pPr marL="0" indent="0">
              <a:buNone/>
            </a:pPr>
            <a:r>
              <a:rPr lang="en-US" sz="1000" dirty="0">
                <a:solidFill>
                  <a:srgbClr val="334155"/>
                </a:solidFill>
                <a:latin typeface="Calibri" pitchFamily="34" charset="0"/>
                <a:ea typeface="Calibri" pitchFamily="34" charset="-122"/>
                <a:cs typeface="Calibri" pitchFamily="34" charset="-120"/>
              </a:rPr>
              <a:t>That's L3 Component territory.</a:t>
            </a:r>
            <a:endParaRPr lang="en-US" sz="1100" dirty="0"/>
          </a:p>
          <a:p>
            <a:pPr marL="0" indent="0">
              <a:buNone/>
            </a:pPr>
            <a:endParaRPr lang="en-US" sz="1100" dirty="0"/>
          </a:p>
          <a:p>
            <a:pPr marL="0" indent="0">
              <a:buNone/>
            </a:pPr>
            <a:r>
              <a:rPr lang="en-US" sz="1100" b="1" dirty="0">
                <a:solidFill>
                  <a:srgbClr val="0F172A"/>
                </a:solidFill>
                <a:latin typeface="Calibri" pitchFamily="34" charset="0"/>
                <a:ea typeface="Calibri" pitchFamily="34" charset="-122"/>
                <a:cs typeface="Calibri" pitchFamily="34" charset="-120"/>
              </a:rPr>
              <a:t>Private caches (in-process Redis)</a:t>
            </a:r>
            <a:endParaRPr lang="en-US" sz="1100" dirty="0"/>
          </a:p>
          <a:p>
            <a:pPr marL="0" indent="0">
              <a:buNone/>
            </a:pPr>
            <a:r>
              <a:rPr lang="en-US" sz="1000" dirty="0">
                <a:solidFill>
                  <a:srgbClr val="334155"/>
                </a:solidFill>
                <a:latin typeface="Calibri" pitchFamily="34" charset="0"/>
                <a:ea typeface="Calibri" pitchFamily="34" charset="-122"/>
                <a:cs typeface="Calibri" pitchFamily="34" charset="-120"/>
              </a:rPr>
              <a:t>Only model at L2 if shared across containers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59669"/>
          </a:solidFill>
          <a:ln/>
        </p:spPr>
        <p:txBody>
          <a:bodyPr/>
          <a:lstStyle/>
          <a:p>
            <a:endParaRPr lang="en-US"/>
          </a:p>
        </p:txBody>
      </p:sp>
      <p:sp>
        <p:nvSpPr>
          <p:cNvPr id="3" name="Text 1"/>
          <p:cNvSpPr/>
          <p:nvPr/>
        </p:nvSpPr>
        <p:spPr>
          <a:xfrm>
            <a:off x="640080" y="182880"/>
            <a:ext cx="8229600" cy="502920"/>
          </a:xfrm>
          <a:prstGeom prst="rect">
            <a:avLst/>
          </a:prstGeom>
          <a:noFill/>
          <a:ln/>
        </p:spPr>
        <p:txBody>
          <a:bodyPr wrap="square" lIns="0" tIns="0" rIns="0" bIns="0" rtlCol="0" anchor="ctr"/>
          <a:lstStyle/>
          <a:p>
            <a:pPr marL="0" indent="0">
              <a:buNone/>
            </a:pPr>
            <a:r>
              <a:rPr lang="en-US" sz="2400" b="1" dirty="0">
                <a:solidFill>
                  <a:srgbClr val="1B2A4A"/>
                </a:solidFill>
                <a:latin typeface="Trebuchet MS" pitchFamily="34" charset="0"/>
                <a:ea typeface="Trebuchet MS" pitchFamily="34" charset="-122"/>
                <a:cs typeface="Trebuchet MS" pitchFamily="34" charset="-120"/>
              </a:rPr>
              <a:t>KnowledgeForge: Container Extraction (L2)</a:t>
            </a:r>
            <a:endParaRPr lang="en-US" sz="2400" dirty="0"/>
          </a:p>
        </p:txBody>
      </p:sp>
      <p:sp>
        <p:nvSpPr>
          <p:cNvPr id="4" name="Text 2"/>
          <p:cNvSpPr/>
          <p:nvPr/>
        </p:nvSpPr>
        <p:spPr>
          <a:xfrm>
            <a:off x="640080" y="685800"/>
            <a:ext cx="7863840" cy="22860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Orchestrator: ContainerManager — runs first, feeds results to L1 ContextManager</a:t>
            </a:r>
            <a:endParaRPr lang="en-US" sz="1000" dirty="0"/>
          </a:p>
        </p:txBody>
      </p:sp>
      <p:sp>
        <p:nvSpPr>
          <p:cNvPr id="5" name="Shape 3"/>
          <p:cNvSpPr/>
          <p:nvPr/>
        </p:nvSpPr>
        <p:spPr>
          <a:xfrm>
            <a:off x="640080" y="1005840"/>
            <a:ext cx="7863840" cy="82296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6" name="Shape 4"/>
          <p:cNvSpPr/>
          <p:nvPr/>
        </p:nvSpPr>
        <p:spPr>
          <a:xfrm>
            <a:off x="640080" y="1005840"/>
            <a:ext cx="54864" cy="822960"/>
          </a:xfrm>
          <a:prstGeom prst="rect">
            <a:avLst/>
          </a:prstGeom>
          <a:solidFill>
            <a:srgbClr val="059669"/>
          </a:solidFill>
          <a:ln/>
        </p:spPr>
        <p:txBody>
          <a:bodyPr/>
          <a:lstStyle/>
          <a:p>
            <a:endParaRPr lang="en-US"/>
          </a:p>
        </p:txBody>
      </p:sp>
      <p:sp>
        <p:nvSpPr>
          <p:cNvPr id="7" name="Text 5"/>
          <p:cNvSpPr/>
          <p:nvPr/>
        </p:nvSpPr>
        <p:spPr>
          <a:xfrm>
            <a:off x="868680" y="1051560"/>
            <a:ext cx="2286000" cy="228600"/>
          </a:xfrm>
          <a:prstGeom prst="rect">
            <a:avLst/>
          </a:prstGeom>
          <a:noFill/>
          <a:ln/>
        </p:spPr>
        <p:txBody>
          <a:bodyPr wrap="square" lIns="0" tIns="0" rIns="0" bIns="0" rtlCol="0" anchor="ctr"/>
          <a:lstStyle/>
          <a:p>
            <a:pPr marL="0" indent="0">
              <a:buNone/>
            </a:pPr>
            <a:r>
              <a:rPr lang="en-US" sz="1200" b="1" dirty="0">
                <a:solidFill>
                  <a:srgbClr val="059669"/>
                </a:solidFill>
                <a:latin typeface="Trebuchet MS" pitchFamily="34" charset="0"/>
                <a:ea typeface="Trebuchet MS" pitchFamily="34" charset="-122"/>
                <a:cs typeface="Trebuchet MS" pitchFamily="34" charset="-120"/>
              </a:rPr>
              <a:t>StructureDetector</a:t>
            </a:r>
            <a:endParaRPr lang="en-US" sz="1200" dirty="0"/>
          </a:p>
        </p:txBody>
      </p:sp>
      <p:sp>
        <p:nvSpPr>
          <p:cNvPr id="8" name="Text 6"/>
          <p:cNvSpPr/>
          <p:nvPr/>
        </p:nvSpPr>
        <p:spPr>
          <a:xfrm>
            <a:off x="868680" y="1280160"/>
            <a:ext cx="7452360" cy="50292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800" dirty="0">
                <a:solidFill>
                  <a:srgbClr val="334155"/>
                </a:solidFill>
                <a:latin typeface="Calibri" pitchFamily="34" charset="0"/>
                <a:ea typeface="Calibri" pitchFamily="34" charset="-122"/>
                <a:cs typeface="Calibri" pitchFamily="34" charset="-120"/>
              </a:rPr>
              <a:t>Base layer</a:t>
            </a:r>
          </a:p>
          <a:p>
            <a:pPr marL="171450" indent="-171450">
              <a:buFont typeface="Arial" panose="020B0604020202020204" pitchFamily="34" charset="0"/>
              <a:buChar char="•"/>
            </a:pPr>
            <a:r>
              <a:rPr lang="en-US" sz="800" dirty="0">
                <a:solidFill>
                  <a:srgbClr val="334155"/>
                </a:solidFill>
                <a:latin typeface="Calibri" pitchFamily="34" charset="0"/>
                <a:ea typeface="Calibri" pitchFamily="34" charset="-122"/>
                <a:cs typeface="Calibri" pitchFamily="34" charset="-120"/>
              </a:rPr>
              <a:t>Walks repo, finds framework manifests (Dockerfile, package.json, pom.xml, go.mod, </a:t>
            </a:r>
            <a:r>
              <a:rPr lang="en-US" sz="800" dirty="0" err="1">
                <a:solidFill>
                  <a:srgbClr val="334155"/>
                </a:solidFill>
                <a:latin typeface="Calibri" pitchFamily="34" charset="0"/>
                <a:ea typeface="Calibri" pitchFamily="34" charset="-122"/>
                <a:cs typeface="Calibri" pitchFamily="34" charset="-120"/>
              </a:rPr>
              <a:t>Cargo.toml</a:t>
            </a:r>
            <a:r>
              <a:rPr lang="en-US" sz="800" dirty="0">
                <a:solidFill>
                  <a:srgbClr val="334155"/>
                </a:solidFill>
                <a:latin typeface="Calibri" pitchFamily="34" charset="0"/>
                <a:ea typeface="Calibri" pitchFamily="34" charset="-122"/>
                <a:cs typeface="Calibri" pitchFamily="34" charset="-120"/>
              </a:rPr>
              <a:t>...)</a:t>
            </a:r>
          </a:p>
          <a:p>
            <a:pPr marL="171450" indent="-171450">
              <a:buFont typeface="Arial" panose="020B0604020202020204" pitchFamily="34" charset="0"/>
              <a:buChar char="•"/>
            </a:pPr>
            <a:r>
              <a:rPr lang="en-US" sz="800" dirty="0">
                <a:solidFill>
                  <a:srgbClr val="334155"/>
                </a:solidFill>
                <a:latin typeface="Calibri" pitchFamily="34" charset="0"/>
                <a:ea typeface="Calibri" pitchFamily="34" charset="-122"/>
                <a:cs typeface="Calibri" pitchFamily="34" charset="-120"/>
              </a:rPr>
              <a:t>Infers container_type, technology, protocol</a:t>
            </a:r>
          </a:p>
          <a:p>
            <a:pPr marL="171450" indent="-171450">
              <a:buFont typeface="Arial" panose="020B0604020202020204" pitchFamily="34" charset="0"/>
              <a:buChar char="•"/>
            </a:pPr>
            <a:r>
              <a:rPr lang="en-US" sz="800" dirty="0" err="1">
                <a:solidFill>
                  <a:srgbClr val="334155"/>
                </a:solidFill>
                <a:latin typeface="Calibri" pitchFamily="34" charset="0"/>
                <a:ea typeface="Calibri" pitchFamily="34" charset="-122"/>
                <a:cs typeface="Calibri" pitchFamily="34" charset="-120"/>
              </a:rPr>
              <a:t>GitOps</a:t>
            </a:r>
            <a:r>
              <a:rPr lang="en-US" sz="800" dirty="0">
                <a:solidFill>
                  <a:srgbClr val="334155"/>
                </a:solidFill>
                <a:latin typeface="Calibri" pitchFamily="34" charset="0"/>
                <a:ea typeface="Calibri" pitchFamily="34" charset="-122"/>
                <a:cs typeface="Calibri" pitchFamily="34" charset="-120"/>
              </a:rPr>
              <a:t> detection for ArgoCD. Root suppression when sub-services exist.</a:t>
            </a:r>
            <a:endParaRPr lang="en-US" sz="800" dirty="0"/>
          </a:p>
        </p:txBody>
      </p:sp>
      <p:sp>
        <p:nvSpPr>
          <p:cNvPr id="9" name="Shape 7"/>
          <p:cNvSpPr/>
          <p:nvPr/>
        </p:nvSpPr>
        <p:spPr>
          <a:xfrm>
            <a:off x="640080" y="1965960"/>
            <a:ext cx="7863840" cy="82296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dirty="0"/>
          </a:p>
        </p:txBody>
      </p:sp>
      <p:sp>
        <p:nvSpPr>
          <p:cNvPr id="10" name="Shape 8"/>
          <p:cNvSpPr/>
          <p:nvPr/>
        </p:nvSpPr>
        <p:spPr>
          <a:xfrm>
            <a:off x="640080" y="1965960"/>
            <a:ext cx="54864" cy="822960"/>
          </a:xfrm>
          <a:prstGeom prst="rect">
            <a:avLst/>
          </a:prstGeom>
          <a:solidFill>
            <a:srgbClr val="059669"/>
          </a:solidFill>
          <a:ln/>
        </p:spPr>
        <p:txBody>
          <a:bodyPr/>
          <a:lstStyle/>
          <a:p>
            <a:endParaRPr lang="en-US"/>
          </a:p>
        </p:txBody>
      </p:sp>
      <p:sp>
        <p:nvSpPr>
          <p:cNvPr id="11" name="Text 9"/>
          <p:cNvSpPr/>
          <p:nvPr/>
        </p:nvSpPr>
        <p:spPr>
          <a:xfrm>
            <a:off x="868680" y="2011680"/>
            <a:ext cx="2286000" cy="228600"/>
          </a:xfrm>
          <a:prstGeom prst="rect">
            <a:avLst/>
          </a:prstGeom>
          <a:noFill/>
          <a:ln/>
        </p:spPr>
        <p:txBody>
          <a:bodyPr wrap="square" lIns="0" tIns="0" rIns="0" bIns="0" rtlCol="0" anchor="ctr"/>
          <a:lstStyle/>
          <a:p>
            <a:pPr marL="0" indent="0">
              <a:buNone/>
            </a:pPr>
            <a:r>
              <a:rPr lang="en-US" sz="1200" b="1" dirty="0">
                <a:solidFill>
                  <a:srgbClr val="059669"/>
                </a:solidFill>
                <a:latin typeface="Trebuchet MS" pitchFamily="34" charset="0"/>
                <a:ea typeface="Trebuchet MS" pitchFamily="34" charset="-122"/>
                <a:cs typeface="Trebuchet MS" pitchFamily="34" charset="-120"/>
              </a:rPr>
              <a:t>ComposeDetector</a:t>
            </a:r>
            <a:endParaRPr lang="en-US" sz="1200" dirty="0"/>
          </a:p>
        </p:txBody>
      </p:sp>
      <p:sp>
        <p:nvSpPr>
          <p:cNvPr id="12" name="Text 10"/>
          <p:cNvSpPr/>
          <p:nvPr/>
        </p:nvSpPr>
        <p:spPr>
          <a:xfrm>
            <a:off x="868680" y="2240280"/>
            <a:ext cx="7452360" cy="50292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950" dirty="0">
                <a:solidFill>
                  <a:srgbClr val="334155"/>
                </a:solidFill>
                <a:latin typeface="Calibri" pitchFamily="34" charset="0"/>
                <a:ea typeface="Calibri" pitchFamily="34" charset="-122"/>
                <a:cs typeface="Calibri" pitchFamily="34" charset="-120"/>
              </a:rPr>
              <a:t>Parses docker-</a:t>
            </a:r>
            <a:r>
              <a:rPr lang="en-US" sz="950" dirty="0" err="1">
                <a:solidFill>
                  <a:srgbClr val="334155"/>
                </a:solidFill>
                <a:latin typeface="Calibri" pitchFamily="34" charset="0"/>
                <a:ea typeface="Calibri" pitchFamily="34" charset="-122"/>
                <a:cs typeface="Calibri" pitchFamily="34" charset="-120"/>
              </a:rPr>
              <a:t>compose.yml</a:t>
            </a:r>
            <a:r>
              <a:rPr lang="en-US" sz="950" dirty="0">
                <a:solidFill>
                  <a:srgbClr val="334155"/>
                </a:solidFill>
                <a:latin typeface="Calibri" pitchFamily="34" charset="0"/>
                <a:ea typeface="Calibri" pitchFamily="34" charset="-122"/>
                <a:cs typeface="Calibri" pitchFamily="34" charset="-120"/>
              </a:rPr>
              <a:t> services</a:t>
            </a:r>
          </a:p>
          <a:p>
            <a:pPr marL="171450" indent="-171450">
              <a:buFont typeface="Arial" panose="020B0604020202020204" pitchFamily="34" charset="0"/>
              <a:buChar char="•"/>
            </a:pPr>
            <a:r>
              <a:rPr lang="en-US" sz="950" dirty="0">
                <a:solidFill>
                  <a:srgbClr val="334155"/>
                </a:solidFill>
                <a:latin typeface="Calibri" pitchFamily="34" charset="0"/>
                <a:ea typeface="Calibri" pitchFamily="34" charset="-122"/>
                <a:cs typeface="Calibri" pitchFamily="34" charset="-120"/>
              </a:rPr>
              <a:t>Extracts image → type (postgres → DB, redis → Cache), depends_on → relationships with inferred protocol, healthcheck endpoints, shared volumes.</a:t>
            </a:r>
            <a:endParaRPr lang="en-US" sz="950" dirty="0"/>
          </a:p>
        </p:txBody>
      </p:sp>
      <p:sp>
        <p:nvSpPr>
          <p:cNvPr id="13" name="Shape 11"/>
          <p:cNvSpPr/>
          <p:nvPr/>
        </p:nvSpPr>
        <p:spPr>
          <a:xfrm>
            <a:off x="640080" y="2926080"/>
            <a:ext cx="7863840" cy="82296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4" name="Shape 12"/>
          <p:cNvSpPr/>
          <p:nvPr/>
        </p:nvSpPr>
        <p:spPr>
          <a:xfrm>
            <a:off x="640080" y="2926080"/>
            <a:ext cx="54864" cy="822960"/>
          </a:xfrm>
          <a:prstGeom prst="rect">
            <a:avLst/>
          </a:prstGeom>
          <a:solidFill>
            <a:srgbClr val="059669"/>
          </a:solidFill>
          <a:ln/>
        </p:spPr>
        <p:txBody>
          <a:bodyPr/>
          <a:lstStyle/>
          <a:p>
            <a:endParaRPr lang="en-US"/>
          </a:p>
        </p:txBody>
      </p:sp>
      <p:sp>
        <p:nvSpPr>
          <p:cNvPr id="15" name="Text 13"/>
          <p:cNvSpPr/>
          <p:nvPr/>
        </p:nvSpPr>
        <p:spPr>
          <a:xfrm>
            <a:off x="868680" y="2971800"/>
            <a:ext cx="2286000" cy="228600"/>
          </a:xfrm>
          <a:prstGeom prst="rect">
            <a:avLst/>
          </a:prstGeom>
          <a:noFill/>
          <a:ln/>
        </p:spPr>
        <p:txBody>
          <a:bodyPr wrap="square" lIns="0" tIns="0" rIns="0" bIns="0" rtlCol="0" anchor="ctr"/>
          <a:lstStyle/>
          <a:p>
            <a:pPr marL="0" indent="0">
              <a:buNone/>
            </a:pPr>
            <a:r>
              <a:rPr lang="en-US" sz="1200" b="1" dirty="0">
                <a:solidFill>
                  <a:srgbClr val="059669"/>
                </a:solidFill>
                <a:latin typeface="Trebuchet MS" pitchFamily="34" charset="0"/>
                <a:ea typeface="Trebuchet MS" pitchFamily="34" charset="-122"/>
                <a:cs typeface="Trebuchet MS" pitchFamily="34" charset="-120"/>
              </a:rPr>
              <a:t>HelmDetector</a:t>
            </a:r>
            <a:endParaRPr lang="en-US" sz="1200" dirty="0"/>
          </a:p>
        </p:txBody>
      </p:sp>
      <p:sp>
        <p:nvSpPr>
          <p:cNvPr id="16" name="Text 14"/>
          <p:cNvSpPr/>
          <p:nvPr/>
        </p:nvSpPr>
        <p:spPr>
          <a:xfrm>
            <a:off x="868680" y="3200400"/>
            <a:ext cx="7452360" cy="50292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950" dirty="0">
                <a:solidFill>
                  <a:srgbClr val="334155"/>
                </a:solidFill>
                <a:latin typeface="Calibri" pitchFamily="34" charset="0"/>
                <a:ea typeface="Calibri" pitchFamily="34" charset="-122"/>
                <a:cs typeface="Calibri" pitchFamily="34" charset="-120"/>
              </a:rPr>
              <a:t>Scans </a:t>
            </a:r>
            <a:r>
              <a:rPr lang="en-US" sz="950" dirty="0" err="1">
                <a:solidFill>
                  <a:srgbClr val="334155"/>
                </a:solidFill>
                <a:latin typeface="Calibri" pitchFamily="34" charset="0"/>
                <a:ea typeface="Calibri" pitchFamily="34" charset="-122"/>
                <a:cs typeface="Calibri" pitchFamily="34" charset="-120"/>
              </a:rPr>
              <a:t>Chart.yaml</a:t>
            </a:r>
            <a:r>
              <a:rPr lang="en-US" sz="950" dirty="0">
                <a:solidFill>
                  <a:srgbClr val="334155"/>
                </a:solidFill>
                <a:latin typeface="Calibri" pitchFamily="34" charset="0"/>
                <a:ea typeface="Calibri" pitchFamily="34" charset="-122"/>
                <a:cs typeface="Calibri" pitchFamily="34" charset="-120"/>
              </a:rPr>
              <a:t> files</a:t>
            </a:r>
          </a:p>
          <a:p>
            <a:pPr marL="171450" indent="-171450">
              <a:buFont typeface="Arial" panose="020B0604020202020204" pitchFamily="34" charset="0"/>
              <a:buChar char="•"/>
            </a:pPr>
            <a:r>
              <a:rPr lang="en-US" sz="950" dirty="0">
                <a:solidFill>
                  <a:srgbClr val="334155"/>
                </a:solidFill>
                <a:latin typeface="Calibri" pitchFamily="34" charset="0"/>
                <a:ea typeface="Calibri" pitchFamily="34" charset="-122"/>
                <a:cs typeface="Calibri" pitchFamily="34" charset="-120"/>
              </a:rPr>
              <a:t>Extracts subchart deps, ingress endpoints, liveness probes. values.yaml env scan for service URLs</a:t>
            </a:r>
          </a:p>
          <a:p>
            <a:pPr marL="171450" indent="-171450">
              <a:buFont typeface="Arial" panose="020B0604020202020204" pitchFamily="34" charset="0"/>
              <a:buChar char="•"/>
            </a:pPr>
            <a:r>
              <a:rPr lang="en-US" sz="950" dirty="0">
                <a:solidFill>
                  <a:srgbClr val="334155"/>
                </a:solidFill>
                <a:latin typeface="Calibri" pitchFamily="34" charset="0"/>
                <a:ea typeface="Calibri" pitchFamily="34" charset="-122"/>
                <a:cs typeface="Calibri" pitchFamily="34" charset="-120"/>
              </a:rPr>
              <a:t>Always overrides runtime/deployment fields to Kubernetes/Helm.</a:t>
            </a:r>
            <a:endParaRPr lang="en-US" sz="950" dirty="0"/>
          </a:p>
        </p:txBody>
      </p:sp>
      <p:sp>
        <p:nvSpPr>
          <p:cNvPr id="17" name="Shape 15"/>
          <p:cNvSpPr/>
          <p:nvPr/>
        </p:nvSpPr>
        <p:spPr>
          <a:xfrm>
            <a:off x="640080" y="3886200"/>
            <a:ext cx="7863840" cy="9144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8" name="Shape 16"/>
          <p:cNvSpPr/>
          <p:nvPr/>
        </p:nvSpPr>
        <p:spPr>
          <a:xfrm>
            <a:off x="640080" y="3886200"/>
            <a:ext cx="54864" cy="822960"/>
          </a:xfrm>
          <a:prstGeom prst="rect">
            <a:avLst/>
          </a:prstGeom>
          <a:solidFill>
            <a:srgbClr val="059669"/>
          </a:solidFill>
          <a:ln/>
        </p:spPr>
        <p:txBody>
          <a:bodyPr/>
          <a:lstStyle/>
          <a:p>
            <a:endParaRPr lang="en-US"/>
          </a:p>
        </p:txBody>
      </p:sp>
      <p:sp>
        <p:nvSpPr>
          <p:cNvPr id="19" name="Text 17"/>
          <p:cNvSpPr/>
          <p:nvPr/>
        </p:nvSpPr>
        <p:spPr>
          <a:xfrm>
            <a:off x="868680" y="3931920"/>
            <a:ext cx="2286000" cy="228600"/>
          </a:xfrm>
          <a:prstGeom prst="rect">
            <a:avLst/>
          </a:prstGeom>
          <a:noFill/>
          <a:ln/>
        </p:spPr>
        <p:txBody>
          <a:bodyPr wrap="square" lIns="0" tIns="0" rIns="0" bIns="0" rtlCol="0" anchor="ctr"/>
          <a:lstStyle/>
          <a:p>
            <a:pPr marL="0" indent="0">
              <a:buNone/>
            </a:pPr>
            <a:r>
              <a:rPr lang="en-US" sz="1200" b="1" dirty="0">
                <a:solidFill>
                  <a:srgbClr val="059669"/>
                </a:solidFill>
                <a:latin typeface="Trebuchet MS" pitchFamily="34" charset="0"/>
                <a:ea typeface="Trebuchet MS" pitchFamily="34" charset="-122"/>
                <a:cs typeface="Trebuchet MS" pitchFamily="34" charset="-120"/>
              </a:rPr>
              <a:t>TerraformDetector</a:t>
            </a:r>
            <a:endParaRPr lang="en-US" sz="1200" dirty="0"/>
          </a:p>
        </p:txBody>
      </p:sp>
      <p:sp>
        <p:nvSpPr>
          <p:cNvPr id="20" name="Text 18"/>
          <p:cNvSpPr/>
          <p:nvPr/>
        </p:nvSpPr>
        <p:spPr>
          <a:xfrm>
            <a:off x="868680" y="4160520"/>
            <a:ext cx="7452360" cy="50292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950" dirty="0">
                <a:solidFill>
                  <a:srgbClr val="334155"/>
                </a:solidFill>
                <a:latin typeface="Calibri" pitchFamily="34" charset="0"/>
                <a:ea typeface="Calibri" pitchFamily="34" charset="-122"/>
                <a:cs typeface="Calibri" pitchFamily="34" charset="-120"/>
              </a:rPr>
              <a:t>Parses *.tf resource blocks for passive infra: </a:t>
            </a:r>
          </a:p>
          <a:p>
            <a:pPr marL="628650" lvl="1" indent="-171450">
              <a:buFont typeface="Arial" panose="020B0604020202020204" pitchFamily="34" charset="0"/>
              <a:buChar char="•"/>
            </a:pPr>
            <a:r>
              <a:rPr lang="en-US" sz="700" dirty="0" err="1">
                <a:solidFill>
                  <a:srgbClr val="334155"/>
                </a:solidFill>
                <a:latin typeface="Calibri" pitchFamily="34" charset="0"/>
                <a:ea typeface="Calibri" pitchFamily="34" charset="-122"/>
                <a:cs typeface="Calibri" pitchFamily="34" charset="-120"/>
              </a:rPr>
              <a:t>aws_db_instance</a:t>
            </a:r>
            <a:r>
              <a:rPr lang="en-US" sz="700" dirty="0">
                <a:solidFill>
                  <a:srgbClr val="334155"/>
                </a:solidFill>
                <a:latin typeface="Calibri" pitchFamily="34" charset="0"/>
                <a:ea typeface="Calibri" pitchFamily="34" charset="-122"/>
                <a:cs typeface="Calibri" pitchFamily="34" charset="-120"/>
              </a:rPr>
              <a:t> → Database</a:t>
            </a:r>
          </a:p>
          <a:p>
            <a:pPr marL="628650" lvl="1" indent="-171450">
              <a:buFont typeface="Arial" panose="020B0604020202020204" pitchFamily="34" charset="0"/>
              <a:buChar char="•"/>
            </a:pPr>
            <a:r>
              <a:rPr lang="en-US" sz="700" dirty="0" err="1">
                <a:solidFill>
                  <a:srgbClr val="334155"/>
                </a:solidFill>
                <a:latin typeface="Calibri" pitchFamily="34" charset="0"/>
                <a:ea typeface="Calibri" pitchFamily="34" charset="-122"/>
                <a:cs typeface="Calibri" pitchFamily="34" charset="-120"/>
              </a:rPr>
              <a:t>aws_sqs_queue</a:t>
            </a:r>
            <a:r>
              <a:rPr lang="en-US" sz="700" dirty="0">
                <a:solidFill>
                  <a:srgbClr val="334155"/>
                </a:solidFill>
                <a:latin typeface="Calibri" pitchFamily="34" charset="0"/>
                <a:ea typeface="Calibri" pitchFamily="34" charset="-122"/>
                <a:cs typeface="Calibri" pitchFamily="34" charset="-120"/>
              </a:rPr>
              <a:t> → Message Queue</a:t>
            </a:r>
          </a:p>
          <a:p>
            <a:pPr marL="628650" lvl="1" indent="-171450">
              <a:buFont typeface="Arial" panose="020B0604020202020204" pitchFamily="34" charset="0"/>
              <a:buChar char="•"/>
            </a:pPr>
            <a:r>
              <a:rPr lang="en-US" sz="700" dirty="0">
                <a:solidFill>
                  <a:srgbClr val="334155"/>
                </a:solidFill>
                <a:latin typeface="Calibri" pitchFamily="34" charset="0"/>
                <a:ea typeface="Calibri" pitchFamily="34" charset="-122"/>
                <a:cs typeface="Calibri" pitchFamily="34" charset="-120"/>
              </a:rPr>
              <a:t>aws_s3_bucket → Object Storage</a:t>
            </a:r>
          </a:p>
          <a:p>
            <a:pPr marL="628650" lvl="1" indent="-171450">
              <a:buFont typeface="Arial" panose="020B0604020202020204" pitchFamily="34" charset="0"/>
              <a:buChar char="•"/>
            </a:pPr>
            <a:r>
              <a:rPr lang="en-US" sz="700" dirty="0">
                <a:solidFill>
                  <a:srgbClr val="334155"/>
                </a:solidFill>
                <a:latin typeface="Calibri" pitchFamily="34" charset="0"/>
                <a:ea typeface="Calibri" pitchFamily="34" charset="-122"/>
                <a:cs typeface="Calibri" pitchFamily="34" charset="-120"/>
              </a:rPr>
              <a:t>lambda → Serverless.</a:t>
            </a:r>
            <a:endParaRPr lang="en-US" sz="700" dirty="0"/>
          </a:p>
        </p:txBody>
      </p:sp>
      <p:sp>
        <p:nvSpPr>
          <p:cNvPr id="21" name="Shape 19"/>
          <p:cNvSpPr/>
          <p:nvPr/>
        </p:nvSpPr>
        <p:spPr>
          <a:xfrm>
            <a:off x="640080" y="4892040"/>
            <a:ext cx="7863840" cy="0"/>
          </a:xfrm>
          <a:prstGeom prst="rect">
            <a:avLst/>
          </a:prstGeom>
          <a:solidFill>
            <a:srgbClr val="F8FAFC"/>
          </a:solidFill>
          <a:ln/>
        </p:spPr>
        <p:txBody>
          <a:bodyPr/>
          <a:lstStyle/>
          <a:p>
            <a:endParaRPr lang="en-US"/>
          </a:p>
        </p:txBody>
      </p:sp>
      <p:sp>
        <p:nvSpPr>
          <p:cNvPr id="22" name="Text 20"/>
          <p:cNvSpPr/>
          <p:nvPr/>
        </p:nvSpPr>
        <p:spPr>
          <a:xfrm>
            <a:off x="640080" y="4800600"/>
            <a:ext cx="7863840" cy="27432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Merge: slug-based identity matching, fill-missing-only (no overwrite), Helm always overrides runtime fields.  Then optional LLM enrichment pass for descriptions + missing relationships.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7C3AED"/>
          </a:solidFill>
          <a:ln/>
        </p:spPr>
        <p:txBody>
          <a:bodyPr/>
          <a:lstStyle/>
          <a:p>
            <a:endParaRPr lang="en-US"/>
          </a:p>
        </p:txBody>
      </p:sp>
      <p:sp>
        <p:nvSpPr>
          <p:cNvPr id="3" name="Text 1"/>
          <p:cNvSpPr/>
          <p:nvPr/>
        </p:nvSpPr>
        <p:spPr>
          <a:xfrm>
            <a:off x="640080" y="182880"/>
            <a:ext cx="4572000" cy="502920"/>
          </a:xfrm>
          <a:prstGeom prst="rect">
            <a:avLst/>
          </a:prstGeom>
          <a:noFill/>
          <a:ln/>
        </p:spPr>
        <p:txBody>
          <a:bodyPr wrap="square" lIns="0" tIns="0" rIns="0" bIns="0" rtlCol="0" anchor="ctr"/>
          <a:lstStyle/>
          <a:p>
            <a:pPr marL="0" indent="0">
              <a:buNone/>
            </a:pPr>
            <a:r>
              <a:rPr lang="en-US" sz="2600" b="1" dirty="0">
                <a:solidFill>
                  <a:srgbClr val="1B2A4A"/>
                </a:solidFill>
                <a:latin typeface="Trebuchet MS" pitchFamily="34" charset="0"/>
                <a:ea typeface="Trebuchet MS" pitchFamily="34" charset="-122"/>
                <a:cs typeface="Trebuchet MS" pitchFamily="34" charset="-120"/>
              </a:rPr>
              <a:t>Level 3: Component Diagram</a:t>
            </a:r>
            <a:endParaRPr lang="en-US" sz="2600" dirty="0"/>
          </a:p>
        </p:txBody>
      </p:sp>
      <p:sp>
        <p:nvSpPr>
          <p:cNvPr id="4" name="Text 2"/>
          <p:cNvSpPr/>
          <p:nvPr/>
        </p:nvSpPr>
        <p:spPr>
          <a:xfrm>
            <a:off x="640080" y="777240"/>
            <a:ext cx="3840480" cy="3931920"/>
          </a:xfrm>
          <a:prstGeom prst="rect">
            <a:avLst/>
          </a:prstGeom>
          <a:noFill/>
          <a:ln/>
        </p:spPr>
        <p:txBody>
          <a:bodyPr wrap="square" lIns="0" tIns="0" rIns="0" bIns="0" rtlCol="0" anchor="t"/>
          <a:lstStyle/>
          <a:p>
            <a:pPr marL="0" indent="0">
              <a:buNone/>
            </a:pPr>
            <a:r>
              <a:rPr lang="en-US" sz="1300" b="1" dirty="0">
                <a:solidFill>
                  <a:srgbClr val="7C3AED"/>
                </a:solidFill>
                <a:latin typeface="Calibri" pitchFamily="34" charset="0"/>
                <a:ea typeface="Calibri" pitchFamily="34" charset="-122"/>
                <a:cs typeface="Calibri" pitchFamily="34" charset="-120"/>
              </a:rPr>
              <a:t>Purpose</a:t>
            </a:r>
            <a:endParaRPr lang="en-US" sz="1300" dirty="0"/>
          </a:p>
          <a:p>
            <a:pPr marL="0" indent="0">
              <a:buNone/>
            </a:pPr>
            <a:r>
              <a:rPr lang="en-US" sz="1200" dirty="0">
                <a:solidFill>
                  <a:srgbClr val="334155"/>
                </a:solidFill>
                <a:latin typeface="Calibri" pitchFamily="34" charset="0"/>
                <a:ea typeface="Calibri" pitchFamily="34" charset="-122"/>
                <a:cs typeface="Calibri" pitchFamily="34" charset="-120"/>
              </a:rPr>
              <a:t>Zoom into a single container. Show key structural building blocks and their interactions.</a:t>
            </a:r>
            <a:endParaRPr lang="en-US" sz="1300" dirty="0"/>
          </a:p>
          <a:p>
            <a:pPr marL="0" indent="0">
              <a:buNone/>
            </a:pPr>
            <a:endParaRPr lang="en-US" sz="1300" dirty="0"/>
          </a:p>
          <a:p>
            <a:pPr marL="0" indent="0">
              <a:buNone/>
            </a:pPr>
            <a:r>
              <a:rPr lang="en-US" sz="1300" b="1" dirty="0">
                <a:solidFill>
                  <a:srgbClr val="7C3AED"/>
                </a:solidFill>
                <a:latin typeface="Calibri" pitchFamily="34" charset="0"/>
                <a:ea typeface="Calibri" pitchFamily="34" charset="-122"/>
                <a:cs typeface="Calibri" pitchFamily="34" charset="-120"/>
              </a:rPr>
              <a:t>Must Include</a:t>
            </a:r>
            <a:endParaRPr lang="en-US" sz="1300" dirty="0"/>
          </a:p>
          <a:p>
            <a:pPr marL="0" indent="0">
              <a:buNone/>
            </a:pPr>
            <a:r>
              <a:rPr lang="en-US" sz="1100" dirty="0">
                <a:solidFill>
                  <a:srgbClr val="334155"/>
                </a:solidFill>
                <a:latin typeface="Calibri" pitchFamily="34" charset="0"/>
                <a:ea typeface="Calibri" pitchFamily="34" charset="-122"/>
                <a:cs typeface="Calibri" pitchFamily="34" charset="-120"/>
              </a:rPr>
              <a:t>•  Components: logical groupings with clear responsibility</a:t>
            </a:r>
            <a:endParaRPr lang="en-US" sz="1300" dirty="0"/>
          </a:p>
          <a:p>
            <a:pPr marL="0" indent="0">
              <a:buNone/>
            </a:pPr>
            <a:r>
              <a:rPr lang="en-US" sz="1100" dirty="0">
                <a:solidFill>
                  <a:srgbClr val="334155"/>
                </a:solidFill>
                <a:latin typeface="Calibri" pitchFamily="34" charset="0"/>
                <a:ea typeface="Calibri" pitchFamily="34" charset="-122"/>
                <a:cs typeface="Calibri" pitchFamily="34" charset="-120"/>
              </a:rPr>
              <a:t>•  Technology/pattern (Service, Repository, Controller)</a:t>
            </a:r>
            <a:endParaRPr lang="en-US" sz="1300" dirty="0"/>
          </a:p>
          <a:p>
            <a:pPr marL="0" indent="0">
              <a:buNone/>
            </a:pPr>
            <a:r>
              <a:rPr lang="en-US" sz="1100" dirty="0">
                <a:solidFill>
                  <a:srgbClr val="334155"/>
                </a:solidFill>
                <a:latin typeface="Calibri" pitchFamily="34" charset="0"/>
                <a:ea typeface="Calibri" pitchFamily="34" charset="-122"/>
                <a:cs typeface="Calibri" pitchFamily="34" charset="-120"/>
              </a:rPr>
              <a:t>•  Inter-component interactions</a:t>
            </a:r>
            <a:endParaRPr lang="en-US" sz="1300" dirty="0"/>
          </a:p>
          <a:p>
            <a:pPr marL="0" indent="0">
              <a:buNone/>
            </a:pPr>
            <a:r>
              <a:rPr lang="en-US" sz="1100" dirty="0">
                <a:solidFill>
                  <a:srgbClr val="334155"/>
                </a:solidFill>
                <a:latin typeface="Calibri" pitchFamily="34" charset="0"/>
                <a:ea typeface="Calibri" pitchFamily="34" charset="-122"/>
                <a:cs typeface="Calibri" pitchFamily="34" charset="-120"/>
              </a:rPr>
              <a:t>•  Connections to other containers + external systems</a:t>
            </a:r>
            <a:endParaRPr lang="en-US" sz="1300" dirty="0"/>
          </a:p>
          <a:p>
            <a:pPr marL="0" indent="0">
              <a:buNone/>
            </a:pPr>
            <a:r>
              <a:rPr lang="en-US" sz="1100" b="1" dirty="0">
                <a:solidFill>
                  <a:srgbClr val="7C3AED"/>
                </a:solidFill>
                <a:latin typeface="Calibri" pitchFamily="34" charset="0"/>
                <a:ea typeface="Calibri" pitchFamily="34" charset="-122"/>
                <a:cs typeface="Calibri" pitchFamily="34" charset="-120"/>
              </a:rPr>
              <a:t>•  Private DBs demoted from L2 live here</a:t>
            </a:r>
            <a:endParaRPr lang="en-US" sz="1300" dirty="0"/>
          </a:p>
          <a:p>
            <a:pPr marL="0" indent="0">
              <a:buNone/>
            </a:pPr>
            <a:endParaRPr lang="en-US" sz="1300" dirty="0"/>
          </a:p>
          <a:p>
            <a:pPr marL="0" indent="0">
              <a:buNone/>
            </a:pPr>
            <a:r>
              <a:rPr lang="en-US" sz="1300" b="1" dirty="0">
                <a:solidFill>
                  <a:srgbClr val="E11D48"/>
                </a:solidFill>
                <a:latin typeface="Calibri" pitchFamily="34" charset="0"/>
                <a:ea typeface="Calibri" pitchFamily="34" charset="-122"/>
                <a:cs typeface="Calibri" pitchFamily="34" charset="-120"/>
              </a:rPr>
              <a:t>Do NOT Include</a:t>
            </a:r>
            <a:endParaRPr lang="en-US" sz="1300" dirty="0"/>
          </a:p>
          <a:p>
            <a:pPr marL="0" indent="0">
              <a:buNone/>
            </a:pPr>
            <a:r>
              <a:rPr lang="en-US" sz="1100" dirty="0">
                <a:solidFill>
                  <a:srgbClr val="334155"/>
                </a:solidFill>
                <a:latin typeface="Calibri" pitchFamily="34" charset="0"/>
                <a:ea typeface="Calibri" pitchFamily="34" charset="-122"/>
                <a:cs typeface="Calibri" pitchFamily="34" charset="-120"/>
              </a:rPr>
              <a:t>•  Every class/function (that's L4 Code)</a:t>
            </a:r>
            <a:endParaRPr lang="en-US" sz="1300" dirty="0"/>
          </a:p>
          <a:p>
            <a:pPr marL="0" indent="0">
              <a:buNone/>
            </a:pPr>
            <a:r>
              <a:rPr lang="en-US" sz="1100" dirty="0">
                <a:solidFill>
                  <a:srgbClr val="334155"/>
                </a:solidFill>
                <a:latin typeface="Calibri" pitchFamily="34" charset="0"/>
                <a:ea typeface="Calibri" pitchFamily="34" charset="-122"/>
                <a:cs typeface="Calibri" pitchFamily="34" charset="-120"/>
              </a:rPr>
              <a:t>•  Private methods, field types</a:t>
            </a:r>
            <a:endParaRPr lang="en-US" sz="1300" dirty="0"/>
          </a:p>
        </p:txBody>
      </p:sp>
      <p:sp>
        <p:nvSpPr>
          <p:cNvPr id="5" name="Shape 3"/>
          <p:cNvSpPr/>
          <p:nvPr/>
        </p:nvSpPr>
        <p:spPr>
          <a:xfrm>
            <a:off x="4846320" y="594360"/>
            <a:ext cx="4114800" cy="42976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6" name="Text 4"/>
          <p:cNvSpPr/>
          <p:nvPr/>
        </p:nvSpPr>
        <p:spPr>
          <a:xfrm>
            <a:off x="4937760" y="667512"/>
            <a:ext cx="3840480" cy="256032"/>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Example: Components of API Server</a:t>
            </a:r>
            <a:endParaRPr lang="en-US" sz="1000" dirty="0"/>
          </a:p>
        </p:txBody>
      </p:sp>
      <p:sp>
        <p:nvSpPr>
          <p:cNvPr id="7" name="Shape 5"/>
          <p:cNvSpPr/>
          <p:nvPr/>
        </p:nvSpPr>
        <p:spPr>
          <a:xfrm>
            <a:off x="5029200" y="978408"/>
            <a:ext cx="3749040" cy="3497580"/>
          </a:xfrm>
          <a:prstGeom prst="rect">
            <a:avLst/>
          </a:prstGeom>
          <a:solidFill>
            <a:srgbClr val="FAF5FF"/>
          </a:solidFill>
          <a:ln w="19050">
            <a:solidFill>
              <a:srgbClr val="7C3AED"/>
            </a:solidFill>
            <a:prstDash val="dash"/>
          </a:ln>
        </p:spPr>
        <p:txBody>
          <a:bodyPr/>
          <a:lstStyle/>
          <a:p>
            <a:endParaRPr lang="en-US"/>
          </a:p>
        </p:txBody>
      </p:sp>
      <p:sp>
        <p:nvSpPr>
          <p:cNvPr id="8" name="Text 6"/>
          <p:cNvSpPr/>
          <p:nvPr/>
        </p:nvSpPr>
        <p:spPr>
          <a:xfrm>
            <a:off x="5120640" y="1024128"/>
            <a:ext cx="3200400" cy="182880"/>
          </a:xfrm>
          <a:prstGeom prst="rect">
            <a:avLst/>
          </a:prstGeom>
          <a:noFill/>
          <a:ln/>
        </p:spPr>
        <p:txBody>
          <a:bodyPr wrap="square" lIns="0" tIns="0" rIns="0" bIns="0" rtlCol="0" anchor="ctr"/>
          <a:lstStyle/>
          <a:p>
            <a:pPr marL="0" indent="0">
              <a:buNone/>
            </a:pPr>
            <a:r>
              <a:rPr lang="en-US" sz="800" b="1" dirty="0">
                <a:solidFill>
                  <a:srgbClr val="7C3AED"/>
                </a:solidFill>
                <a:latin typeface="Calibri" pitchFamily="34" charset="0"/>
                <a:ea typeface="Calibri" pitchFamily="34" charset="-122"/>
                <a:cs typeface="Calibri" pitchFamily="34" charset="-120"/>
              </a:rPr>
              <a:t>API Server [Container]</a:t>
            </a:r>
            <a:endParaRPr lang="en-US" sz="800" dirty="0"/>
          </a:p>
        </p:txBody>
      </p:sp>
      <p:sp>
        <p:nvSpPr>
          <p:cNvPr id="9" name="Shape 7"/>
          <p:cNvSpPr/>
          <p:nvPr/>
        </p:nvSpPr>
        <p:spPr>
          <a:xfrm>
            <a:off x="6035040" y="1325880"/>
            <a:ext cx="1417320" cy="594360"/>
          </a:xfrm>
          <a:prstGeom prst="rect">
            <a:avLst/>
          </a:prstGeom>
          <a:solidFill>
            <a:srgbClr val="FFFFFF"/>
          </a:solidFill>
          <a:ln w="19050">
            <a:solidFill>
              <a:srgbClr val="2563EB"/>
            </a:solidFill>
            <a:prstDash val="solid"/>
          </a:ln>
        </p:spPr>
        <p:txBody>
          <a:bodyPr/>
          <a:lstStyle/>
          <a:p>
            <a:endParaRPr lang="en-US"/>
          </a:p>
        </p:txBody>
      </p:sp>
      <p:sp>
        <p:nvSpPr>
          <p:cNvPr id="10" name="Text 8"/>
          <p:cNvSpPr/>
          <p:nvPr/>
        </p:nvSpPr>
        <p:spPr>
          <a:xfrm>
            <a:off x="6035040" y="1325880"/>
            <a:ext cx="1417320" cy="594360"/>
          </a:xfrm>
          <a:prstGeom prst="rect">
            <a:avLst/>
          </a:prstGeom>
          <a:noFill/>
          <a:ln/>
        </p:spPr>
        <p:txBody>
          <a:bodyPr wrap="square" lIns="0" tIns="0" rIns="0" bIns="0" rtlCol="0" anchor="ctr"/>
          <a:lstStyle/>
          <a:p>
            <a:pPr marL="0" indent="0" algn="ctr">
              <a:buNone/>
            </a:pPr>
            <a:r>
              <a:rPr lang="en-US" sz="800" b="1" dirty="0">
                <a:solidFill>
                  <a:srgbClr val="0F172A"/>
                </a:solidFill>
                <a:latin typeface="Calibri" pitchFamily="34" charset="0"/>
                <a:ea typeface="Calibri" pitchFamily="34" charset="-122"/>
                <a:cs typeface="Calibri" pitchFamily="34" charset="-120"/>
              </a:rPr>
              <a:t>API Router</a:t>
            </a:r>
            <a:endParaRPr lang="en-US" sz="800" dirty="0"/>
          </a:p>
          <a:p>
            <a:pPr marL="0" indent="0" algn="ctr">
              <a:buNone/>
            </a:pPr>
            <a:r>
              <a:rPr lang="en-US" sz="700" dirty="0">
                <a:solidFill>
                  <a:srgbClr val="64748B"/>
                </a:solidFill>
                <a:latin typeface="Calibri" pitchFamily="34" charset="0"/>
                <a:ea typeface="Calibri" pitchFamily="34" charset="-122"/>
                <a:cs typeface="Calibri" pitchFamily="34" charset="-120"/>
              </a:rPr>
              <a:t>[Controller]</a:t>
            </a:r>
            <a:endParaRPr lang="en-US" sz="800" dirty="0"/>
          </a:p>
        </p:txBody>
      </p:sp>
      <p:sp>
        <p:nvSpPr>
          <p:cNvPr id="11" name="Shape 9"/>
          <p:cNvSpPr/>
          <p:nvPr/>
        </p:nvSpPr>
        <p:spPr>
          <a:xfrm>
            <a:off x="5212080" y="2057400"/>
            <a:ext cx="1417320" cy="594360"/>
          </a:xfrm>
          <a:prstGeom prst="rect">
            <a:avLst/>
          </a:prstGeom>
          <a:solidFill>
            <a:srgbClr val="FFFFFF"/>
          </a:solidFill>
          <a:ln w="19050">
            <a:solidFill>
              <a:srgbClr val="7C3AED"/>
            </a:solidFill>
            <a:prstDash val="solid"/>
          </a:ln>
        </p:spPr>
        <p:txBody>
          <a:bodyPr/>
          <a:lstStyle/>
          <a:p>
            <a:endParaRPr lang="en-US"/>
          </a:p>
        </p:txBody>
      </p:sp>
      <p:sp>
        <p:nvSpPr>
          <p:cNvPr id="12" name="Text 10"/>
          <p:cNvSpPr/>
          <p:nvPr/>
        </p:nvSpPr>
        <p:spPr>
          <a:xfrm>
            <a:off x="5212080" y="2057400"/>
            <a:ext cx="1417320" cy="594360"/>
          </a:xfrm>
          <a:prstGeom prst="rect">
            <a:avLst/>
          </a:prstGeom>
          <a:noFill/>
          <a:ln/>
        </p:spPr>
        <p:txBody>
          <a:bodyPr wrap="square" lIns="0" tIns="0" rIns="0" bIns="0" rtlCol="0" anchor="ctr"/>
          <a:lstStyle/>
          <a:p>
            <a:pPr marL="0" indent="0" algn="ctr">
              <a:buNone/>
            </a:pPr>
            <a:r>
              <a:rPr lang="en-US" sz="800" b="1" dirty="0">
                <a:solidFill>
                  <a:srgbClr val="0F172A"/>
                </a:solidFill>
                <a:latin typeface="Calibri" pitchFamily="34" charset="0"/>
                <a:ea typeface="Calibri" pitchFamily="34" charset="-122"/>
                <a:cs typeface="Calibri" pitchFamily="34" charset="-120"/>
              </a:rPr>
              <a:t>C4 Context</a:t>
            </a:r>
            <a:endParaRPr lang="en-US" sz="800" dirty="0"/>
          </a:p>
          <a:p>
            <a:pPr marL="0" indent="0" algn="ctr">
              <a:buNone/>
            </a:pPr>
            <a:r>
              <a:rPr lang="en-US" sz="800" b="1" dirty="0">
                <a:solidFill>
                  <a:srgbClr val="0F172A"/>
                </a:solidFill>
                <a:latin typeface="Calibri" pitchFamily="34" charset="0"/>
                <a:ea typeface="Calibri" pitchFamily="34" charset="-122"/>
                <a:cs typeface="Calibri" pitchFamily="34" charset="-120"/>
              </a:rPr>
              <a:t>Service</a:t>
            </a:r>
            <a:endParaRPr lang="en-US" sz="800" dirty="0"/>
          </a:p>
          <a:p>
            <a:pPr marL="0" indent="0" algn="ctr">
              <a:buNone/>
            </a:pPr>
            <a:r>
              <a:rPr lang="en-US" sz="700" dirty="0">
                <a:solidFill>
                  <a:srgbClr val="64748B"/>
                </a:solidFill>
                <a:latin typeface="Calibri" pitchFamily="34" charset="0"/>
                <a:ea typeface="Calibri" pitchFamily="34" charset="-122"/>
                <a:cs typeface="Calibri" pitchFamily="34" charset="-120"/>
              </a:rPr>
              <a:t>[Service]</a:t>
            </a:r>
            <a:endParaRPr lang="en-US" sz="800" dirty="0"/>
          </a:p>
        </p:txBody>
      </p:sp>
      <p:sp>
        <p:nvSpPr>
          <p:cNvPr id="13" name="Shape 11"/>
          <p:cNvSpPr/>
          <p:nvPr/>
        </p:nvSpPr>
        <p:spPr>
          <a:xfrm>
            <a:off x="6903720" y="2057400"/>
            <a:ext cx="1417320" cy="594360"/>
          </a:xfrm>
          <a:prstGeom prst="rect">
            <a:avLst/>
          </a:prstGeom>
          <a:solidFill>
            <a:srgbClr val="FFFFFF"/>
          </a:solidFill>
          <a:ln w="19050">
            <a:solidFill>
              <a:srgbClr val="7C3AED"/>
            </a:solidFill>
            <a:prstDash val="solid"/>
          </a:ln>
        </p:spPr>
        <p:txBody>
          <a:bodyPr/>
          <a:lstStyle/>
          <a:p>
            <a:endParaRPr lang="en-US"/>
          </a:p>
        </p:txBody>
      </p:sp>
      <p:sp>
        <p:nvSpPr>
          <p:cNvPr id="14" name="Text 12"/>
          <p:cNvSpPr/>
          <p:nvPr/>
        </p:nvSpPr>
        <p:spPr>
          <a:xfrm>
            <a:off x="6903720" y="2057400"/>
            <a:ext cx="1417320" cy="594360"/>
          </a:xfrm>
          <a:prstGeom prst="rect">
            <a:avLst/>
          </a:prstGeom>
          <a:noFill/>
          <a:ln/>
        </p:spPr>
        <p:txBody>
          <a:bodyPr wrap="square" lIns="0" tIns="0" rIns="0" bIns="0" rtlCol="0" anchor="ctr"/>
          <a:lstStyle/>
          <a:p>
            <a:pPr marL="0" indent="0" algn="ctr">
              <a:buNone/>
            </a:pPr>
            <a:r>
              <a:rPr lang="en-US" sz="800" b="1" dirty="0">
                <a:solidFill>
                  <a:srgbClr val="0F172A"/>
                </a:solidFill>
                <a:latin typeface="Calibri" pitchFamily="34" charset="0"/>
                <a:ea typeface="Calibri" pitchFamily="34" charset="-122"/>
                <a:cs typeface="Calibri" pitchFamily="34" charset="-120"/>
              </a:rPr>
              <a:t>C4 Container</a:t>
            </a:r>
            <a:endParaRPr lang="en-US" sz="800" dirty="0"/>
          </a:p>
          <a:p>
            <a:pPr marL="0" indent="0" algn="ctr">
              <a:buNone/>
            </a:pPr>
            <a:r>
              <a:rPr lang="en-US" sz="800" b="1" dirty="0">
                <a:solidFill>
                  <a:srgbClr val="0F172A"/>
                </a:solidFill>
                <a:latin typeface="Calibri" pitchFamily="34" charset="0"/>
                <a:ea typeface="Calibri" pitchFamily="34" charset="-122"/>
                <a:cs typeface="Calibri" pitchFamily="34" charset="-120"/>
              </a:rPr>
              <a:t>Service</a:t>
            </a:r>
            <a:endParaRPr lang="en-US" sz="800" dirty="0"/>
          </a:p>
          <a:p>
            <a:pPr marL="0" indent="0" algn="ctr">
              <a:buNone/>
            </a:pPr>
            <a:r>
              <a:rPr lang="en-US" sz="700" dirty="0">
                <a:solidFill>
                  <a:srgbClr val="64748B"/>
                </a:solidFill>
                <a:latin typeface="Calibri" pitchFamily="34" charset="0"/>
                <a:ea typeface="Calibri" pitchFamily="34" charset="-122"/>
                <a:cs typeface="Calibri" pitchFamily="34" charset="-120"/>
              </a:rPr>
              <a:t>[Service]</a:t>
            </a:r>
            <a:endParaRPr lang="en-US" sz="800" dirty="0"/>
          </a:p>
        </p:txBody>
      </p:sp>
      <p:sp>
        <p:nvSpPr>
          <p:cNvPr id="15" name="Shape 13"/>
          <p:cNvSpPr/>
          <p:nvPr/>
        </p:nvSpPr>
        <p:spPr>
          <a:xfrm>
            <a:off x="6035040" y="2788920"/>
            <a:ext cx="1417320" cy="539496"/>
          </a:xfrm>
          <a:prstGeom prst="rect">
            <a:avLst/>
          </a:prstGeom>
          <a:solidFill>
            <a:srgbClr val="FFFFFF"/>
          </a:solidFill>
          <a:ln w="19050">
            <a:solidFill>
              <a:srgbClr val="7C3AED"/>
            </a:solidFill>
            <a:prstDash val="solid"/>
          </a:ln>
        </p:spPr>
        <p:txBody>
          <a:bodyPr/>
          <a:lstStyle/>
          <a:p>
            <a:endParaRPr lang="en-US"/>
          </a:p>
        </p:txBody>
      </p:sp>
      <p:sp>
        <p:nvSpPr>
          <p:cNvPr id="16" name="Text 14"/>
          <p:cNvSpPr/>
          <p:nvPr/>
        </p:nvSpPr>
        <p:spPr>
          <a:xfrm>
            <a:off x="6035040" y="2788920"/>
            <a:ext cx="1417320" cy="594360"/>
          </a:xfrm>
          <a:prstGeom prst="rect">
            <a:avLst/>
          </a:prstGeom>
          <a:noFill/>
          <a:ln/>
        </p:spPr>
        <p:txBody>
          <a:bodyPr wrap="square" lIns="0" tIns="0" rIns="0" bIns="0" rtlCol="0" anchor="ctr"/>
          <a:lstStyle/>
          <a:p>
            <a:pPr marL="0" indent="0" algn="ctr">
              <a:buNone/>
            </a:pPr>
            <a:r>
              <a:rPr lang="en-US" sz="800" b="1" dirty="0">
                <a:solidFill>
                  <a:srgbClr val="0F172A"/>
                </a:solidFill>
                <a:latin typeface="Calibri" pitchFamily="34" charset="0"/>
                <a:ea typeface="Calibri" pitchFamily="34" charset="-122"/>
                <a:cs typeface="Calibri" pitchFamily="34" charset="-120"/>
              </a:rPr>
              <a:t>C4 Component</a:t>
            </a:r>
            <a:endParaRPr lang="en-US" sz="800" dirty="0"/>
          </a:p>
          <a:p>
            <a:pPr marL="0" indent="0" algn="ctr">
              <a:buNone/>
            </a:pPr>
            <a:r>
              <a:rPr lang="en-US" sz="800" b="1" dirty="0">
                <a:solidFill>
                  <a:srgbClr val="0F172A"/>
                </a:solidFill>
                <a:latin typeface="Calibri" pitchFamily="34" charset="0"/>
                <a:ea typeface="Calibri" pitchFamily="34" charset="-122"/>
                <a:cs typeface="Calibri" pitchFamily="34" charset="-120"/>
              </a:rPr>
              <a:t>Service</a:t>
            </a:r>
            <a:endParaRPr lang="en-US" sz="800" dirty="0"/>
          </a:p>
          <a:p>
            <a:pPr marL="0" indent="0" algn="ctr">
              <a:buNone/>
            </a:pPr>
            <a:r>
              <a:rPr lang="en-US" sz="700" dirty="0">
                <a:solidFill>
                  <a:srgbClr val="64748B"/>
                </a:solidFill>
                <a:latin typeface="Calibri" pitchFamily="34" charset="0"/>
                <a:ea typeface="Calibri" pitchFamily="34" charset="-122"/>
                <a:cs typeface="Calibri" pitchFamily="34" charset="-120"/>
              </a:rPr>
              <a:t>[Service]</a:t>
            </a:r>
            <a:endParaRPr lang="en-US" sz="800" dirty="0"/>
          </a:p>
        </p:txBody>
      </p:sp>
      <p:sp>
        <p:nvSpPr>
          <p:cNvPr id="17" name="Shape 15"/>
          <p:cNvSpPr/>
          <p:nvPr/>
        </p:nvSpPr>
        <p:spPr>
          <a:xfrm>
            <a:off x="5212080" y="3383280"/>
            <a:ext cx="1417320" cy="594360"/>
          </a:xfrm>
          <a:prstGeom prst="rect">
            <a:avLst/>
          </a:prstGeom>
          <a:solidFill>
            <a:srgbClr val="FFFFFF"/>
          </a:solidFill>
          <a:ln w="19050">
            <a:solidFill>
              <a:srgbClr val="EA580C"/>
            </a:solidFill>
            <a:prstDash val="solid"/>
          </a:ln>
        </p:spPr>
        <p:txBody>
          <a:bodyPr/>
          <a:lstStyle/>
          <a:p>
            <a:endParaRPr lang="en-US"/>
          </a:p>
        </p:txBody>
      </p:sp>
      <p:sp>
        <p:nvSpPr>
          <p:cNvPr id="18" name="Text 16"/>
          <p:cNvSpPr/>
          <p:nvPr/>
        </p:nvSpPr>
        <p:spPr>
          <a:xfrm>
            <a:off x="5212080" y="3383280"/>
            <a:ext cx="1417320" cy="594360"/>
          </a:xfrm>
          <a:prstGeom prst="rect">
            <a:avLst/>
          </a:prstGeom>
          <a:noFill/>
          <a:ln/>
        </p:spPr>
        <p:txBody>
          <a:bodyPr wrap="square" lIns="0" tIns="0" rIns="0" bIns="0" rtlCol="0" anchor="ctr"/>
          <a:lstStyle/>
          <a:p>
            <a:pPr marL="0" indent="0" algn="ctr">
              <a:buNone/>
            </a:pPr>
            <a:r>
              <a:rPr lang="en-US" sz="800" b="1" dirty="0">
                <a:solidFill>
                  <a:srgbClr val="0F172A"/>
                </a:solidFill>
                <a:latin typeface="Calibri" pitchFamily="34" charset="0"/>
                <a:ea typeface="Calibri" pitchFamily="34" charset="-122"/>
                <a:cs typeface="Calibri" pitchFamily="34" charset="-120"/>
              </a:rPr>
              <a:t>Graph Repo</a:t>
            </a:r>
            <a:endParaRPr lang="en-US" sz="800" dirty="0"/>
          </a:p>
          <a:p>
            <a:pPr marL="0" indent="0" algn="ctr">
              <a:buNone/>
            </a:pPr>
            <a:r>
              <a:rPr lang="en-US" sz="700" dirty="0">
                <a:solidFill>
                  <a:srgbClr val="64748B"/>
                </a:solidFill>
                <a:latin typeface="Calibri" pitchFamily="34" charset="0"/>
                <a:ea typeface="Calibri" pitchFamily="34" charset="-122"/>
                <a:cs typeface="Calibri" pitchFamily="34" charset="-120"/>
              </a:rPr>
              <a:t>[Repository]</a:t>
            </a:r>
            <a:endParaRPr lang="en-US" sz="800" dirty="0"/>
          </a:p>
        </p:txBody>
      </p:sp>
      <p:sp>
        <p:nvSpPr>
          <p:cNvPr id="19" name="Shape 17"/>
          <p:cNvSpPr/>
          <p:nvPr/>
        </p:nvSpPr>
        <p:spPr>
          <a:xfrm>
            <a:off x="6903720" y="3383280"/>
            <a:ext cx="1417320" cy="594360"/>
          </a:xfrm>
          <a:prstGeom prst="rect">
            <a:avLst/>
          </a:prstGeom>
          <a:solidFill>
            <a:srgbClr val="FFFFFF"/>
          </a:solidFill>
          <a:ln w="19050">
            <a:solidFill>
              <a:srgbClr val="EA580C"/>
            </a:solidFill>
            <a:prstDash val="solid"/>
          </a:ln>
        </p:spPr>
        <p:txBody>
          <a:bodyPr/>
          <a:lstStyle/>
          <a:p>
            <a:endParaRPr lang="en-US"/>
          </a:p>
        </p:txBody>
      </p:sp>
      <p:sp>
        <p:nvSpPr>
          <p:cNvPr id="20" name="Text 18"/>
          <p:cNvSpPr/>
          <p:nvPr/>
        </p:nvSpPr>
        <p:spPr>
          <a:xfrm>
            <a:off x="6903720" y="3383280"/>
            <a:ext cx="1417320" cy="594360"/>
          </a:xfrm>
          <a:prstGeom prst="rect">
            <a:avLst/>
          </a:prstGeom>
          <a:noFill/>
          <a:ln/>
        </p:spPr>
        <p:txBody>
          <a:bodyPr wrap="square" lIns="0" tIns="0" rIns="0" bIns="0" rtlCol="0" anchor="ctr"/>
          <a:lstStyle/>
          <a:p>
            <a:pPr marL="0" indent="0" algn="ctr">
              <a:buNone/>
            </a:pPr>
            <a:r>
              <a:rPr lang="en-US" sz="800" b="1" dirty="0">
                <a:solidFill>
                  <a:srgbClr val="0F172A"/>
                </a:solidFill>
                <a:latin typeface="Calibri" pitchFamily="34" charset="0"/>
                <a:ea typeface="Calibri" pitchFamily="34" charset="-122"/>
                <a:cs typeface="Calibri" pitchFamily="34" charset="-120"/>
              </a:rPr>
              <a:t>LLM Enricher</a:t>
            </a:r>
            <a:endParaRPr lang="en-US" sz="800" dirty="0"/>
          </a:p>
          <a:p>
            <a:pPr marL="0" indent="0" algn="ctr">
              <a:buNone/>
            </a:pPr>
            <a:r>
              <a:rPr lang="en-US" sz="700" dirty="0">
                <a:solidFill>
                  <a:srgbClr val="64748B"/>
                </a:solidFill>
                <a:latin typeface="Calibri" pitchFamily="34" charset="0"/>
                <a:ea typeface="Calibri" pitchFamily="34" charset="-122"/>
                <a:cs typeface="Calibri" pitchFamily="34" charset="-120"/>
              </a:rPr>
              <a:t>[Service]</a:t>
            </a:r>
            <a:endParaRPr lang="en-US" sz="800" dirty="0"/>
          </a:p>
        </p:txBody>
      </p:sp>
      <p:sp>
        <p:nvSpPr>
          <p:cNvPr id="21" name="Shape 19"/>
          <p:cNvSpPr/>
          <p:nvPr/>
        </p:nvSpPr>
        <p:spPr>
          <a:xfrm>
            <a:off x="6400800" y="1920240"/>
            <a:ext cx="0" cy="137160"/>
          </a:xfrm>
          <a:prstGeom prst="line">
            <a:avLst/>
          </a:prstGeom>
          <a:noFill/>
          <a:ln w="12700">
            <a:solidFill>
              <a:srgbClr val="64748B"/>
            </a:solidFill>
            <a:prstDash val="solid"/>
          </a:ln>
        </p:spPr>
        <p:txBody>
          <a:bodyPr/>
          <a:lstStyle/>
          <a:p>
            <a:endParaRPr lang="en-US"/>
          </a:p>
        </p:txBody>
      </p:sp>
      <p:sp>
        <p:nvSpPr>
          <p:cNvPr id="22" name="Shape 20"/>
          <p:cNvSpPr/>
          <p:nvPr/>
        </p:nvSpPr>
        <p:spPr>
          <a:xfrm>
            <a:off x="7132320" y="1920240"/>
            <a:ext cx="457200" cy="137160"/>
          </a:xfrm>
          <a:prstGeom prst="line">
            <a:avLst/>
          </a:prstGeom>
          <a:noFill/>
          <a:ln w="12700">
            <a:solidFill>
              <a:srgbClr val="64748B"/>
            </a:solidFill>
            <a:prstDash val="solid"/>
          </a:ln>
        </p:spPr>
        <p:txBody>
          <a:bodyPr/>
          <a:lstStyle/>
          <a:p>
            <a:endParaRPr lang="en-US"/>
          </a:p>
        </p:txBody>
      </p:sp>
      <p:sp>
        <p:nvSpPr>
          <p:cNvPr id="23" name="Shape 21"/>
          <p:cNvSpPr/>
          <p:nvPr/>
        </p:nvSpPr>
        <p:spPr>
          <a:xfrm>
            <a:off x="5916168" y="2651760"/>
            <a:ext cx="502920" cy="137160"/>
          </a:xfrm>
          <a:prstGeom prst="line">
            <a:avLst/>
          </a:prstGeom>
          <a:noFill/>
          <a:ln w="12700">
            <a:solidFill>
              <a:srgbClr val="64748B"/>
            </a:solidFill>
            <a:prstDash val="solid"/>
          </a:ln>
        </p:spPr>
        <p:txBody>
          <a:bodyPr/>
          <a:lstStyle/>
          <a:p>
            <a:endParaRPr lang="en-US"/>
          </a:p>
        </p:txBody>
      </p:sp>
      <p:sp>
        <p:nvSpPr>
          <p:cNvPr id="24" name="Text 22"/>
          <p:cNvSpPr/>
          <p:nvPr/>
        </p:nvSpPr>
        <p:spPr>
          <a:xfrm>
            <a:off x="5212080" y="4023360"/>
            <a:ext cx="1097280" cy="182880"/>
          </a:xfrm>
          <a:prstGeom prst="rect">
            <a:avLst/>
          </a:prstGeom>
          <a:noFill/>
          <a:ln/>
        </p:spPr>
        <p:txBody>
          <a:bodyPr wrap="square" lIns="0" tIns="0" rIns="0" bIns="0" rtlCol="0" anchor="ctr"/>
          <a:lstStyle/>
          <a:p>
            <a:pPr marL="0" indent="0">
              <a:buNone/>
            </a:pPr>
            <a:r>
              <a:rPr lang="en-US" sz="900" b="1" dirty="0">
                <a:solidFill>
                  <a:srgbClr val="D97706"/>
                </a:solidFill>
                <a:latin typeface="Calibri" pitchFamily="34" charset="0"/>
                <a:ea typeface="Calibri" pitchFamily="34" charset="-122"/>
                <a:cs typeface="Calibri" pitchFamily="34" charset="-120"/>
              </a:rPr>
              <a:t>→ Neo4j</a:t>
            </a:r>
            <a:endParaRPr lang="en-US" sz="900" dirty="0"/>
          </a:p>
        </p:txBody>
      </p:sp>
      <p:sp>
        <p:nvSpPr>
          <p:cNvPr id="25" name="Text 23"/>
          <p:cNvSpPr/>
          <p:nvPr/>
        </p:nvSpPr>
        <p:spPr>
          <a:xfrm>
            <a:off x="7269480" y="4023360"/>
            <a:ext cx="1097280" cy="182880"/>
          </a:xfrm>
          <a:prstGeom prst="rect">
            <a:avLst/>
          </a:prstGeom>
          <a:noFill/>
          <a:ln/>
        </p:spPr>
        <p:txBody>
          <a:bodyPr wrap="square" lIns="0" tIns="0" rIns="0" bIns="0" rtlCol="0" anchor="ctr"/>
          <a:lstStyle/>
          <a:p>
            <a:pPr marL="0" indent="0">
              <a:buNone/>
            </a:pPr>
            <a:r>
              <a:rPr lang="en-US" sz="900" b="1" dirty="0">
                <a:solidFill>
                  <a:srgbClr val="D97706"/>
                </a:solidFill>
                <a:latin typeface="Calibri" pitchFamily="34" charset="0"/>
                <a:ea typeface="Calibri" pitchFamily="34" charset="-122"/>
                <a:cs typeface="Calibri" pitchFamily="34" charset="-120"/>
              </a:rPr>
              <a:t>→ LLM API</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7C3AED"/>
          </a:solidFill>
          <a:ln/>
        </p:spPr>
        <p:txBody>
          <a:bodyPr/>
          <a:lstStyle/>
          <a:p>
            <a:endParaRPr lang="en-US"/>
          </a:p>
        </p:txBody>
      </p:sp>
      <p:sp>
        <p:nvSpPr>
          <p:cNvPr id="3" name="Text 1"/>
          <p:cNvSpPr/>
          <p:nvPr/>
        </p:nvSpPr>
        <p:spPr>
          <a:xfrm>
            <a:off x="640080" y="182880"/>
            <a:ext cx="8229600" cy="502920"/>
          </a:xfrm>
          <a:prstGeom prst="rect">
            <a:avLst/>
          </a:prstGeom>
          <a:noFill/>
          <a:ln/>
        </p:spPr>
        <p:txBody>
          <a:bodyPr wrap="square" lIns="0" tIns="0" rIns="0" bIns="0" rtlCol="0" anchor="ctr"/>
          <a:lstStyle/>
          <a:p>
            <a:pPr marL="0" indent="0">
              <a:buNone/>
            </a:pPr>
            <a:r>
              <a:rPr lang="en-US" sz="2400" b="1" dirty="0">
                <a:solidFill>
                  <a:srgbClr val="1B2A4A"/>
                </a:solidFill>
                <a:latin typeface="Trebuchet MS" pitchFamily="34" charset="0"/>
                <a:ea typeface="Trebuchet MS" pitchFamily="34" charset="-122"/>
                <a:cs typeface="Trebuchet MS" pitchFamily="34" charset="-120"/>
              </a:rPr>
              <a:t>KnowledgeForge: Component Extraction (L3)</a:t>
            </a:r>
            <a:endParaRPr lang="en-US" sz="2400" dirty="0"/>
          </a:p>
        </p:txBody>
      </p:sp>
      <p:sp>
        <p:nvSpPr>
          <p:cNvPr id="4" name="Text 2"/>
          <p:cNvSpPr/>
          <p:nvPr/>
        </p:nvSpPr>
        <p:spPr>
          <a:xfrm>
            <a:off x="640080" y="685800"/>
            <a:ext cx="7863840" cy="22860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Orchestrator: ComponentExtractor — chains A → B → C → D per container</a:t>
            </a:r>
            <a:endParaRPr lang="en-US" sz="1000" dirty="0"/>
          </a:p>
        </p:txBody>
      </p:sp>
      <p:sp>
        <p:nvSpPr>
          <p:cNvPr id="5" name="Shape 3"/>
          <p:cNvSpPr/>
          <p:nvPr/>
        </p:nvSpPr>
        <p:spPr>
          <a:xfrm>
            <a:off x="640080" y="1097280"/>
            <a:ext cx="502920" cy="502920"/>
          </a:xfrm>
          <a:prstGeom prst="ellipse">
            <a:avLst/>
          </a:prstGeom>
          <a:solidFill>
            <a:srgbClr val="2563EB"/>
          </a:solidFill>
          <a:ln/>
        </p:spPr>
        <p:txBody>
          <a:bodyPr/>
          <a:lstStyle/>
          <a:p>
            <a:endParaRPr lang="en-US"/>
          </a:p>
        </p:txBody>
      </p:sp>
      <p:sp>
        <p:nvSpPr>
          <p:cNvPr id="6" name="Text 4"/>
          <p:cNvSpPr/>
          <p:nvPr/>
        </p:nvSpPr>
        <p:spPr>
          <a:xfrm>
            <a:off x="640080" y="10972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A</a:t>
            </a:r>
            <a:endParaRPr lang="en-US" sz="1800" dirty="0"/>
          </a:p>
        </p:txBody>
      </p:sp>
      <p:sp>
        <p:nvSpPr>
          <p:cNvPr id="7" name="Shape 5"/>
          <p:cNvSpPr/>
          <p:nvPr/>
        </p:nvSpPr>
        <p:spPr>
          <a:xfrm>
            <a:off x="1325880" y="1005840"/>
            <a:ext cx="7178040" cy="82296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dirty="0"/>
          </a:p>
        </p:txBody>
      </p:sp>
      <p:sp>
        <p:nvSpPr>
          <p:cNvPr id="8" name="Text 6"/>
          <p:cNvSpPr/>
          <p:nvPr/>
        </p:nvSpPr>
        <p:spPr>
          <a:xfrm>
            <a:off x="1463040" y="1051560"/>
            <a:ext cx="1828800" cy="228600"/>
          </a:xfrm>
          <a:prstGeom prst="rect">
            <a:avLst/>
          </a:prstGeom>
          <a:noFill/>
          <a:ln/>
        </p:spPr>
        <p:txBody>
          <a:bodyPr wrap="square" lIns="0" tIns="0" rIns="0" bIns="0" rtlCol="0" anchor="ctr"/>
          <a:lstStyle/>
          <a:p>
            <a:pPr marL="0" indent="0">
              <a:buNone/>
            </a:pPr>
            <a:r>
              <a:rPr lang="en-US" sz="1300" b="1" dirty="0">
                <a:solidFill>
                  <a:srgbClr val="2563EB"/>
                </a:solidFill>
                <a:latin typeface="Trebuchet MS" pitchFamily="34" charset="0"/>
                <a:ea typeface="Trebuchet MS" pitchFamily="34" charset="-122"/>
                <a:cs typeface="Trebuchet MS" pitchFamily="34" charset="-120"/>
              </a:rPr>
              <a:t>Parse</a:t>
            </a:r>
            <a:endParaRPr lang="en-US" sz="1300" dirty="0"/>
          </a:p>
        </p:txBody>
      </p:sp>
      <p:sp>
        <p:nvSpPr>
          <p:cNvPr id="9" name="Text 7"/>
          <p:cNvSpPr/>
          <p:nvPr/>
        </p:nvSpPr>
        <p:spPr>
          <a:xfrm>
            <a:off x="1463040" y="1261872"/>
            <a:ext cx="6858000" cy="530352"/>
          </a:xfrm>
          <a:prstGeom prst="rect">
            <a:avLst/>
          </a:prstGeom>
          <a:noFill/>
          <a:ln/>
        </p:spPr>
        <p:txBody>
          <a:bodyPr wrap="square" lIns="0" tIns="0" rIns="0" bIns="0" rtlCol="0" anchor="t"/>
          <a:lstStyle/>
          <a:p>
            <a:pPr marL="171450" indent="-171450">
              <a:buFont typeface="Arial" panose="020B0604020202020204" pitchFamily="34" charset="0"/>
              <a:buChar char="•"/>
            </a:pPr>
            <a:r>
              <a:rPr lang="en-US" sz="950" dirty="0">
                <a:solidFill>
                  <a:srgbClr val="334155"/>
                </a:solidFill>
                <a:latin typeface="Calibri" pitchFamily="34" charset="0"/>
                <a:ea typeface="Calibri" pitchFamily="34" charset="-122"/>
                <a:cs typeface="Calibri" pitchFamily="34" charset="-120"/>
              </a:rPr>
              <a:t>tree-sitter AST parsing with language-specific visitors (Python, Java, TypeScript, Go)</a:t>
            </a:r>
          </a:p>
          <a:p>
            <a:pPr marL="171450" indent="-171450">
              <a:buFont typeface="Arial" panose="020B0604020202020204" pitchFamily="34" charset="0"/>
              <a:buChar char="•"/>
            </a:pPr>
            <a:r>
              <a:rPr lang="en-US" sz="950" dirty="0">
                <a:solidFill>
                  <a:srgbClr val="334155"/>
                </a:solidFill>
                <a:latin typeface="Calibri" pitchFamily="34" charset="0"/>
                <a:ea typeface="Calibri" pitchFamily="34" charset="-122"/>
                <a:cs typeface="Calibri" pitchFamily="34" charset="-120"/>
              </a:rPr>
              <a:t>Extracts </a:t>
            </a:r>
            <a:r>
              <a:rPr lang="en-US" sz="950" dirty="0" err="1">
                <a:solidFill>
                  <a:srgbClr val="334155"/>
                </a:solidFill>
                <a:latin typeface="Calibri" pitchFamily="34" charset="0"/>
                <a:ea typeface="Calibri" pitchFamily="34" charset="-122"/>
                <a:cs typeface="Calibri" pitchFamily="34" charset="-120"/>
              </a:rPr>
              <a:t>CodeElements</a:t>
            </a:r>
            <a:r>
              <a:rPr lang="en-US" sz="950" dirty="0">
                <a:solidFill>
                  <a:srgbClr val="334155"/>
                </a:solidFill>
                <a:latin typeface="Calibri" pitchFamily="34" charset="0"/>
                <a:ea typeface="Calibri" pitchFamily="34" charset="-122"/>
                <a:cs typeface="Calibri" pitchFamily="34" charset="-120"/>
              </a:rPr>
              <a:t>: classes, functions, decorators, imports, framework roles (controller / service / repository).</a:t>
            </a:r>
            <a:endParaRPr lang="en-US" sz="950" dirty="0"/>
          </a:p>
        </p:txBody>
      </p:sp>
      <p:sp>
        <p:nvSpPr>
          <p:cNvPr id="10" name="Shape 8"/>
          <p:cNvSpPr/>
          <p:nvPr/>
        </p:nvSpPr>
        <p:spPr>
          <a:xfrm>
            <a:off x="640080" y="2084832"/>
            <a:ext cx="502920" cy="502920"/>
          </a:xfrm>
          <a:prstGeom prst="ellipse">
            <a:avLst/>
          </a:prstGeom>
          <a:solidFill>
            <a:srgbClr val="0891B2"/>
          </a:solidFill>
          <a:ln/>
        </p:spPr>
        <p:txBody>
          <a:bodyPr/>
          <a:lstStyle/>
          <a:p>
            <a:endParaRPr lang="en-US"/>
          </a:p>
        </p:txBody>
      </p:sp>
      <p:sp>
        <p:nvSpPr>
          <p:cNvPr id="11" name="Text 9"/>
          <p:cNvSpPr/>
          <p:nvPr/>
        </p:nvSpPr>
        <p:spPr>
          <a:xfrm>
            <a:off x="640080" y="208483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B</a:t>
            </a:r>
            <a:endParaRPr lang="en-US" sz="1800" dirty="0"/>
          </a:p>
        </p:txBody>
      </p:sp>
      <p:sp>
        <p:nvSpPr>
          <p:cNvPr id="12" name="Shape 10"/>
          <p:cNvSpPr/>
          <p:nvPr/>
        </p:nvSpPr>
        <p:spPr>
          <a:xfrm>
            <a:off x="1325880" y="1993392"/>
            <a:ext cx="7178040" cy="82296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3" name="Text 11"/>
          <p:cNvSpPr/>
          <p:nvPr/>
        </p:nvSpPr>
        <p:spPr>
          <a:xfrm>
            <a:off x="1463040" y="2039112"/>
            <a:ext cx="1828800" cy="228600"/>
          </a:xfrm>
          <a:prstGeom prst="rect">
            <a:avLst/>
          </a:prstGeom>
          <a:noFill/>
          <a:ln/>
        </p:spPr>
        <p:txBody>
          <a:bodyPr wrap="square" lIns="0" tIns="0" rIns="0" bIns="0" rtlCol="0" anchor="ctr"/>
          <a:lstStyle/>
          <a:p>
            <a:pPr marL="0" indent="0">
              <a:buNone/>
            </a:pPr>
            <a:r>
              <a:rPr lang="en-US" sz="1300" b="1" dirty="0">
                <a:solidFill>
                  <a:srgbClr val="0891B2"/>
                </a:solidFill>
                <a:latin typeface="Trebuchet MS" pitchFamily="34" charset="0"/>
                <a:ea typeface="Trebuchet MS" pitchFamily="34" charset="-122"/>
                <a:cs typeface="Trebuchet MS" pitchFamily="34" charset="-120"/>
              </a:rPr>
              <a:t>Graph</a:t>
            </a:r>
            <a:endParaRPr lang="en-US" sz="1300" dirty="0"/>
          </a:p>
        </p:txBody>
      </p:sp>
      <p:sp>
        <p:nvSpPr>
          <p:cNvPr id="14" name="Text 12"/>
          <p:cNvSpPr/>
          <p:nvPr/>
        </p:nvSpPr>
        <p:spPr>
          <a:xfrm>
            <a:off x="1463040" y="2249424"/>
            <a:ext cx="6858000" cy="530352"/>
          </a:xfrm>
          <a:prstGeom prst="rect">
            <a:avLst/>
          </a:prstGeom>
          <a:noFill/>
          <a:ln/>
        </p:spPr>
        <p:txBody>
          <a:bodyPr wrap="square" lIns="0" tIns="0" rIns="0" bIns="0" rtlCol="0" anchor="t"/>
          <a:lstStyle/>
          <a:p>
            <a:pPr marL="171450" indent="-171450">
              <a:buFont typeface="Arial" panose="020B0604020202020204" pitchFamily="34" charset="0"/>
              <a:buChar char="•"/>
            </a:pPr>
            <a:r>
              <a:rPr lang="en-US" sz="950" dirty="0">
                <a:solidFill>
                  <a:srgbClr val="334155"/>
                </a:solidFill>
                <a:latin typeface="Calibri" pitchFamily="34" charset="0"/>
                <a:ea typeface="Calibri" pitchFamily="34" charset="-122"/>
                <a:cs typeface="Calibri" pitchFamily="34" charset="-120"/>
              </a:rPr>
              <a:t>Build weighted dependency graph (</a:t>
            </a:r>
            <a:r>
              <a:rPr lang="en-US" sz="950" dirty="0" err="1">
                <a:solidFill>
                  <a:srgbClr val="334155"/>
                </a:solidFill>
                <a:latin typeface="Calibri" pitchFamily="34" charset="0"/>
                <a:ea typeface="Calibri" pitchFamily="34" charset="-122"/>
                <a:cs typeface="Calibri" pitchFamily="34" charset="-120"/>
              </a:rPr>
              <a:t>NetworkX</a:t>
            </a:r>
            <a:r>
              <a:rPr lang="en-US" sz="950" dirty="0">
                <a:solidFill>
                  <a:srgbClr val="334155"/>
                </a:solidFill>
                <a:latin typeface="Calibri" pitchFamily="34" charset="0"/>
                <a:ea typeface="Calibri" pitchFamily="34" charset="-122"/>
                <a:cs typeface="Calibri" pitchFamily="34" charset="-120"/>
              </a:rPr>
              <a:t>)</a:t>
            </a:r>
          </a:p>
          <a:p>
            <a:pPr marL="171450" indent="-171450">
              <a:buFont typeface="Arial" panose="020B0604020202020204" pitchFamily="34" charset="0"/>
              <a:buChar char="•"/>
            </a:pPr>
            <a:r>
              <a:rPr lang="en-US" sz="950" dirty="0">
                <a:solidFill>
                  <a:srgbClr val="334155"/>
                </a:solidFill>
                <a:latin typeface="Calibri" pitchFamily="34" charset="0"/>
                <a:ea typeface="Calibri" pitchFamily="34" charset="-122"/>
                <a:cs typeface="Calibri" pitchFamily="34" charset="-120"/>
              </a:rPr>
              <a:t>Three edge types: structural (imports, inheritance, calls), directory proximity (same dir = 0.3, parent/child = 0.15), semantic (TF-IDF cosine similarity on tokenized names &gt; 0.5).</a:t>
            </a:r>
            <a:endParaRPr lang="en-US" sz="950" dirty="0"/>
          </a:p>
        </p:txBody>
      </p:sp>
      <p:sp>
        <p:nvSpPr>
          <p:cNvPr id="15" name="Shape 13"/>
          <p:cNvSpPr/>
          <p:nvPr/>
        </p:nvSpPr>
        <p:spPr>
          <a:xfrm>
            <a:off x="640080" y="3072384"/>
            <a:ext cx="502920" cy="502920"/>
          </a:xfrm>
          <a:prstGeom prst="ellipse">
            <a:avLst/>
          </a:prstGeom>
          <a:solidFill>
            <a:srgbClr val="7C3AED"/>
          </a:solidFill>
          <a:ln/>
        </p:spPr>
        <p:txBody>
          <a:bodyPr/>
          <a:lstStyle/>
          <a:p>
            <a:endParaRPr lang="en-US"/>
          </a:p>
        </p:txBody>
      </p:sp>
      <p:sp>
        <p:nvSpPr>
          <p:cNvPr id="16" name="Text 14"/>
          <p:cNvSpPr/>
          <p:nvPr/>
        </p:nvSpPr>
        <p:spPr>
          <a:xfrm>
            <a:off x="640080" y="3072384"/>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C</a:t>
            </a:r>
            <a:endParaRPr lang="en-US" sz="1800" dirty="0"/>
          </a:p>
        </p:txBody>
      </p:sp>
      <p:sp>
        <p:nvSpPr>
          <p:cNvPr id="17" name="Shape 15"/>
          <p:cNvSpPr/>
          <p:nvPr/>
        </p:nvSpPr>
        <p:spPr>
          <a:xfrm>
            <a:off x="1325880" y="2980944"/>
            <a:ext cx="7178040" cy="82296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8" name="Text 16"/>
          <p:cNvSpPr/>
          <p:nvPr/>
        </p:nvSpPr>
        <p:spPr>
          <a:xfrm>
            <a:off x="1463040" y="3026664"/>
            <a:ext cx="1828800" cy="228600"/>
          </a:xfrm>
          <a:prstGeom prst="rect">
            <a:avLst/>
          </a:prstGeom>
          <a:noFill/>
          <a:ln/>
        </p:spPr>
        <p:txBody>
          <a:bodyPr wrap="square" lIns="0" tIns="0" rIns="0" bIns="0" rtlCol="0" anchor="ctr"/>
          <a:lstStyle/>
          <a:p>
            <a:pPr marL="0" indent="0">
              <a:buNone/>
            </a:pPr>
            <a:r>
              <a:rPr lang="en-US" sz="1300" b="1" dirty="0">
                <a:solidFill>
                  <a:srgbClr val="7C3AED"/>
                </a:solidFill>
                <a:latin typeface="Trebuchet MS" pitchFamily="34" charset="0"/>
                <a:ea typeface="Trebuchet MS" pitchFamily="34" charset="-122"/>
                <a:cs typeface="Trebuchet MS" pitchFamily="34" charset="-120"/>
              </a:rPr>
              <a:t>Group</a:t>
            </a:r>
            <a:endParaRPr lang="en-US" sz="1300" dirty="0"/>
          </a:p>
        </p:txBody>
      </p:sp>
      <p:sp>
        <p:nvSpPr>
          <p:cNvPr id="19" name="Text 17"/>
          <p:cNvSpPr/>
          <p:nvPr/>
        </p:nvSpPr>
        <p:spPr>
          <a:xfrm>
            <a:off x="1463040" y="3236976"/>
            <a:ext cx="6858000" cy="530352"/>
          </a:xfrm>
          <a:prstGeom prst="rect">
            <a:avLst/>
          </a:prstGeom>
          <a:noFill/>
          <a:ln/>
        </p:spPr>
        <p:txBody>
          <a:bodyPr wrap="square" lIns="0" tIns="0" rIns="0" bIns="0" rtlCol="0" anchor="t"/>
          <a:lstStyle/>
          <a:p>
            <a:pPr marL="171450" indent="-171450">
              <a:buFont typeface="Arial" panose="020B0604020202020204" pitchFamily="34" charset="0"/>
              <a:buChar char="•"/>
            </a:pPr>
            <a:r>
              <a:rPr lang="en-US" sz="950" dirty="0">
                <a:solidFill>
                  <a:srgbClr val="334155"/>
                </a:solidFill>
                <a:latin typeface="Calibri" pitchFamily="34" charset="0"/>
                <a:ea typeface="Calibri" pitchFamily="34" charset="-122"/>
                <a:cs typeface="Calibri" pitchFamily="34" charset="-120"/>
              </a:rPr>
              <a:t>Two-tier strategy: </a:t>
            </a:r>
          </a:p>
          <a:p>
            <a:pPr marL="171450" indent="-171450">
              <a:buFont typeface="Arial" panose="020B0604020202020204" pitchFamily="34" charset="0"/>
              <a:buChar char="•"/>
            </a:pPr>
            <a:r>
              <a:rPr lang="en-US" sz="950" dirty="0">
                <a:solidFill>
                  <a:srgbClr val="334155"/>
                </a:solidFill>
                <a:latin typeface="Calibri" pitchFamily="34" charset="0"/>
                <a:ea typeface="Calibri" pitchFamily="34" charset="-122"/>
                <a:cs typeface="Calibri" pitchFamily="34" charset="-120"/>
              </a:rPr>
              <a:t>(1) Framework detection (Spring/Django/FastAPI/NestJS matchers, confidence &gt; 0.5) groups by domain prefix. </a:t>
            </a:r>
          </a:p>
          <a:p>
            <a:pPr marL="171450" indent="-171450">
              <a:buFont typeface="Arial" panose="020B0604020202020204" pitchFamily="34" charset="0"/>
              <a:buChar char="•"/>
            </a:pPr>
            <a:r>
              <a:rPr lang="en-US" sz="950" dirty="0">
                <a:solidFill>
                  <a:srgbClr val="334155"/>
                </a:solidFill>
                <a:latin typeface="Calibri" pitchFamily="34" charset="0"/>
                <a:ea typeface="Calibri" pitchFamily="34" charset="-122"/>
                <a:cs typeface="Calibri" pitchFamily="34" charset="-120"/>
              </a:rPr>
              <a:t>(2) Louvain community detection on remainder with post-processing (merge singletons, split clusters &gt; 15).</a:t>
            </a:r>
            <a:endParaRPr lang="en-US" sz="950" dirty="0"/>
          </a:p>
        </p:txBody>
      </p:sp>
      <p:sp>
        <p:nvSpPr>
          <p:cNvPr id="20" name="Shape 18"/>
          <p:cNvSpPr/>
          <p:nvPr/>
        </p:nvSpPr>
        <p:spPr>
          <a:xfrm>
            <a:off x="640080" y="4059936"/>
            <a:ext cx="502920" cy="502920"/>
          </a:xfrm>
          <a:prstGeom prst="ellipse">
            <a:avLst/>
          </a:prstGeom>
          <a:solidFill>
            <a:srgbClr val="EA580C"/>
          </a:solidFill>
          <a:ln/>
        </p:spPr>
        <p:txBody>
          <a:bodyPr/>
          <a:lstStyle/>
          <a:p>
            <a:endParaRPr lang="en-US"/>
          </a:p>
        </p:txBody>
      </p:sp>
      <p:sp>
        <p:nvSpPr>
          <p:cNvPr id="21" name="Text 19"/>
          <p:cNvSpPr/>
          <p:nvPr/>
        </p:nvSpPr>
        <p:spPr>
          <a:xfrm>
            <a:off x="640080" y="4059936"/>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D</a:t>
            </a:r>
            <a:endParaRPr lang="en-US" sz="1800" dirty="0"/>
          </a:p>
        </p:txBody>
      </p:sp>
      <p:sp>
        <p:nvSpPr>
          <p:cNvPr id="22" name="Shape 20"/>
          <p:cNvSpPr/>
          <p:nvPr/>
        </p:nvSpPr>
        <p:spPr>
          <a:xfrm>
            <a:off x="1325880" y="3968496"/>
            <a:ext cx="7178040" cy="82296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dirty="0"/>
          </a:p>
        </p:txBody>
      </p:sp>
      <p:sp>
        <p:nvSpPr>
          <p:cNvPr id="23" name="Text 21"/>
          <p:cNvSpPr/>
          <p:nvPr/>
        </p:nvSpPr>
        <p:spPr>
          <a:xfrm>
            <a:off x="1463040" y="4014216"/>
            <a:ext cx="1828800" cy="228600"/>
          </a:xfrm>
          <a:prstGeom prst="rect">
            <a:avLst/>
          </a:prstGeom>
          <a:noFill/>
          <a:ln/>
        </p:spPr>
        <p:txBody>
          <a:bodyPr wrap="square" lIns="0" tIns="0" rIns="0" bIns="0" rtlCol="0" anchor="ctr"/>
          <a:lstStyle/>
          <a:p>
            <a:pPr marL="0" indent="0">
              <a:buNone/>
            </a:pPr>
            <a:r>
              <a:rPr lang="en-US" sz="1300" b="1" dirty="0">
                <a:solidFill>
                  <a:srgbClr val="EA580C"/>
                </a:solidFill>
                <a:latin typeface="Trebuchet MS" pitchFamily="34" charset="0"/>
                <a:ea typeface="Trebuchet MS" pitchFamily="34" charset="-122"/>
                <a:cs typeface="Trebuchet MS" pitchFamily="34" charset="-120"/>
              </a:rPr>
              <a:t>Enrich</a:t>
            </a:r>
            <a:endParaRPr lang="en-US" sz="1300" dirty="0"/>
          </a:p>
        </p:txBody>
      </p:sp>
      <p:sp>
        <p:nvSpPr>
          <p:cNvPr id="24" name="Text 22"/>
          <p:cNvSpPr/>
          <p:nvPr/>
        </p:nvSpPr>
        <p:spPr>
          <a:xfrm>
            <a:off x="1463040" y="4224528"/>
            <a:ext cx="6858000" cy="530352"/>
          </a:xfrm>
          <a:prstGeom prst="rect">
            <a:avLst/>
          </a:prstGeom>
          <a:noFill/>
          <a:ln/>
        </p:spPr>
        <p:txBody>
          <a:bodyPr wrap="square" lIns="0" tIns="0" rIns="0" bIns="0" rtlCol="0" anchor="t"/>
          <a:lstStyle/>
          <a:p>
            <a:pPr marL="0" indent="0">
              <a:buNone/>
            </a:pPr>
            <a:r>
              <a:rPr lang="en-US" sz="950" dirty="0">
                <a:solidFill>
                  <a:srgbClr val="334155"/>
                </a:solidFill>
                <a:latin typeface="Calibri" pitchFamily="34" charset="0"/>
                <a:ea typeface="Calibri" pitchFamily="34" charset="-122"/>
                <a:cs typeface="Calibri" pitchFamily="34" charset="-120"/>
              </a:rPr>
              <a:t>Optional LLM pass: improve component names, generate descriptions, infer responsibility and layer. Graceful fallback to static-analysis names if LLM unavailable. </a:t>
            </a:r>
          </a:p>
          <a:p>
            <a:pPr marL="0" indent="0">
              <a:buNone/>
            </a:pPr>
            <a:r>
              <a:rPr lang="en-US" sz="950" dirty="0">
                <a:solidFill>
                  <a:srgbClr val="334155"/>
                </a:solidFill>
                <a:latin typeface="Calibri" pitchFamily="34" charset="0"/>
                <a:ea typeface="Calibri" pitchFamily="34" charset="-122"/>
                <a:cs typeface="Calibri" pitchFamily="34" charset="-120"/>
              </a:rPr>
              <a:t>Confidence: framework = 0.9, community = 0.6, singleton = 0.3.</a:t>
            </a:r>
            <a:endParaRPr lang="en-US" sz="950" dirty="0"/>
          </a:p>
        </p:txBody>
      </p:sp>
      <p:sp>
        <p:nvSpPr>
          <p:cNvPr id="25" name="Text 23"/>
          <p:cNvSpPr/>
          <p:nvPr/>
        </p:nvSpPr>
        <p:spPr>
          <a:xfrm>
            <a:off x="749808" y="1792224"/>
            <a:ext cx="274320" cy="182880"/>
          </a:xfrm>
          <a:prstGeom prst="rect">
            <a:avLst/>
          </a:prstGeom>
          <a:noFill/>
          <a:ln/>
        </p:spPr>
        <p:txBody>
          <a:bodyPr wrap="square" lIns="0" tIns="0" rIns="0" bIns="0" rtlCol="0" anchor="ctr"/>
          <a:lstStyle/>
          <a:p>
            <a:pPr marL="0" indent="0" algn="ctr">
              <a:buNone/>
            </a:pPr>
            <a:r>
              <a:rPr lang="en-US" sz="1200" dirty="0">
                <a:solidFill>
                  <a:srgbClr val="CBD5E1"/>
                </a:solidFill>
              </a:rPr>
              <a:t>▼</a:t>
            </a:r>
            <a:endParaRPr lang="en-US" sz="1200" dirty="0"/>
          </a:p>
        </p:txBody>
      </p:sp>
      <p:sp>
        <p:nvSpPr>
          <p:cNvPr id="26" name="Text 24"/>
          <p:cNvSpPr/>
          <p:nvPr/>
        </p:nvSpPr>
        <p:spPr>
          <a:xfrm>
            <a:off x="749808" y="2779776"/>
            <a:ext cx="274320" cy="182880"/>
          </a:xfrm>
          <a:prstGeom prst="rect">
            <a:avLst/>
          </a:prstGeom>
          <a:noFill/>
          <a:ln/>
        </p:spPr>
        <p:txBody>
          <a:bodyPr wrap="square" lIns="0" tIns="0" rIns="0" bIns="0" rtlCol="0" anchor="ctr"/>
          <a:lstStyle/>
          <a:p>
            <a:pPr marL="0" indent="0" algn="ctr">
              <a:buNone/>
            </a:pPr>
            <a:r>
              <a:rPr lang="en-US" sz="1200" dirty="0">
                <a:solidFill>
                  <a:srgbClr val="CBD5E1"/>
                </a:solidFill>
              </a:rPr>
              <a:t>▼</a:t>
            </a:r>
            <a:endParaRPr lang="en-US" sz="1200" dirty="0"/>
          </a:p>
        </p:txBody>
      </p:sp>
      <p:sp>
        <p:nvSpPr>
          <p:cNvPr id="27" name="Text 25"/>
          <p:cNvSpPr/>
          <p:nvPr/>
        </p:nvSpPr>
        <p:spPr>
          <a:xfrm>
            <a:off x="749808" y="3767328"/>
            <a:ext cx="274320" cy="182880"/>
          </a:xfrm>
          <a:prstGeom prst="rect">
            <a:avLst/>
          </a:prstGeom>
          <a:noFill/>
          <a:ln/>
        </p:spPr>
        <p:txBody>
          <a:bodyPr wrap="square" lIns="0" tIns="0" rIns="0" bIns="0" rtlCol="0" anchor="ctr"/>
          <a:lstStyle/>
          <a:p>
            <a:pPr marL="0" indent="0" algn="ctr">
              <a:buNone/>
            </a:pPr>
            <a:r>
              <a:rPr lang="en-US" sz="1200" dirty="0">
                <a:solidFill>
                  <a:srgbClr val="CBD5E1"/>
                </a:solidFill>
              </a:rPr>
              <a: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B2A4A"/>
          </a:solidFill>
          <a:ln/>
        </p:spPr>
        <p:txBody>
          <a:bodyPr/>
          <a:lstStyle/>
          <a:p>
            <a:endParaRPr lang="en-US"/>
          </a:p>
        </p:txBody>
      </p:sp>
      <p:sp>
        <p:nvSpPr>
          <p:cNvPr id="3" name="Text 1"/>
          <p:cNvSpPr/>
          <p:nvPr/>
        </p:nvSpPr>
        <p:spPr>
          <a:xfrm>
            <a:off x="640080" y="228600"/>
            <a:ext cx="7863840" cy="502920"/>
          </a:xfrm>
          <a:prstGeom prst="rect">
            <a:avLst/>
          </a:prstGeom>
          <a:noFill/>
          <a:ln/>
        </p:spPr>
        <p:txBody>
          <a:bodyPr wrap="square" lIns="0" tIns="0" rIns="0" bIns="0" rtlCol="0" anchor="ctr"/>
          <a:lstStyle/>
          <a:p>
            <a:pPr marL="0" indent="0">
              <a:buNone/>
            </a:pPr>
            <a:r>
              <a:rPr lang="en-US" sz="2600" b="1" dirty="0">
                <a:solidFill>
                  <a:srgbClr val="1B2A4A"/>
                </a:solidFill>
                <a:latin typeface="Trebuchet MS" pitchFamily="34" charset="0"/>
                <a:ea typeface="Trebuchet MS" pitchFamily="34" charset="-122"/>
                <a:cs typeface="Trebuchet MS" pitchFamily="34" charset="-120"/>
              </a:rPr>
              <a:t>C4 Rules to Remember</a:t>
            </a:r>
            <a:endParaRPr lang="en-US" sz="2600" dirty="0"/>
          </a:p>
        </p:txBody>
      </p:sp>
      <p:sp>
        <p:nvSpPr>
          <p:cNvPr id="4" name="Shape 2"/>
          <p:cNvSpPr/>
          <p:nvPr/>
        </p:nvSpPr>
        <p:spPr>
          <a:xfrm>
            <a:off x="640080" y="914400"/>
            <a:ext cx="3749040" cy="10972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5" name="Shape 3"/>
          <p:cNvSpPr/>
          <p:nvPr/>
        </p:nvSpPr>
        <p:spPr>
          <a:xfrm>
            <a:off x="640080" y="914400"/>
            <a:ext cx="54864" cy="1097280"/>
          </a:xfrm>
          <a:prstGeom prst="rect">
            <a:avLst/>
          </a:prstGeom>
          <a:solidFill>
            <a:srgbClr val="0891B2"/>
          </a:solidFill>
          <a:ln/>
        </p:spPr>
        <p:txBody>
          <a:bodyPr/>
          <a:lstStyle/>
          <a:p>
            <a:endParaRPr lang="en-US"/>
          </a:p>
        </p:txBody>
      </p:sp>
      <p:sp>
        <p:nvSpPr>
          <p:cNvPr id="6" name="Text 4"/>
          <p:cNvSpPr/>
          <p:nvPr/>
        </p:nvSpPr>
        <p:spPr>
          <a:xfrm>
            <a:off x="822960" y="1005840"/>
            <a:ext cx="3429000" cy="914400"/>
          </a:xfrm>
          <a:prstGeom prst="rect">
            <a:avLst/>
          </a:prstGeom>
          <a:noFill/>
          <a:ln/>
        </p:spPr>
        <p:txBody>
          <a:bodyPr wrap="square" lIns="0" tIns="0" rIns="0" bIns="0" rtlCol="0" anchor="t"/>
          <a:lstStyle/>
          <a:p>
            <a:pPr marL="0" indent="0">
              <a:buNone/>
            </a:pPr>
            <a:r>
              <a:rPr lang="en-US" sz="1200" b="1" dirty="0">
                <a:solidFill>
                  <a:srgbClr val="0F172A"/>
                </a:solidFill>
                <a:latin typeface="Calibri" pitchFamily="34" charset="0"/>
                <a:ea typeface="Calibri" pitchFamily="34" charset="-122"/>
                <a:cs typeface="Calibri" pitchFamily="34" charset="-120"/>
              </a:rPr>
              <a:t>Every element is named + described</a:t>
            </a:r>
            <a:endParaRPr lang="en-US" sz="1200" dirty="0"/>
          </a:p>
          <a:p>
            <a:pPr marL="0" indent="0">
              <a:buNone/>
            </a:pPr>
            <a:r>
              <a:rPr lang="en-US" sz="1100" dirty="0">
                <a:solidFill>
                  <a:srgbClr val="334155"/>
                </a:solidFill>
                <a:latin typeface="Calibri" pitchFamily="34" charset="0"/>
                <a:ea typeface="Calibri" pitchFamily="34" charset="-122"/>
                <a:cs typeface="Calibri" pitchFamily="34" charset="-120"/>
              </a:rPr>
              <a:t>No anonymous boxes. Name, description, technology label (L2+).</a:t>
            </a:r>
            <a:endParaRPr lang="en-US" sz="1200" dirty="0"/>
          </a:p>
        </p:txBody>
      </p:sp>
      <p:sp>
        <p:nvSpPr>
          <p:cNvPr id="7" name="Shape 5"/>
          <p:cNvSpPr/>
          <p:nvPr/>
        </p:nvSpPr>
        <p:spPr>
          <a:xfrm>
            <a:off x="4754880" y="914400"/>
            <a:ext cx="3749040" cy="10972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8" name="Shape 6"/>
          <p:cNvSpPr/>
          <p:nvPr/>
        </p:nvSpPr>
        <p:spPr>
          <a:xfrm>
            <a:off x="4754880" y="914400"/>
            <a:ext cx="54864" cy="1097280"/>
          </a:xfrm>
          <a:prstGeom prst="rect">
            <a:avLst/>
          </a:prstGeom>
          <a:solidFill>
            <a:srgbClr val="059669"/>
          </a:solidFill>
          <a:ln/>
        </p:spPr>
        <p:txBody>
          <a:bodyPr/>
          <a:lstStyle/>
          <a:p>
            <a:endParaRPr lang="en-US"/>
          </a:p>
        </p:txBody>
      </p:sp>
      <p:sp>
        <p:nvSpPr>
          <p:cNvPr id="9" name="Text 7"/>
          <p:cNvSpPr/>
          <p:nvPr/>
        </p:nvSpPr>
        <p:spPr>
          <a:xfrm>
            <a:off x="4937760" y="1005840"/>
            <a:ext cx="3429000" cy="914400"/>
          </a:xfrm>
          <a:prstGeom prst="rect">
            <a:avLst/>
          </a:prstGeom>
          <a:noFill/>
          <a:ln/>
        </p:spPr>
        <p:txBody>
          <a:bodyPr wrap="square" lIns="0" tIns="0" rIns="0" bIns="0" rtlCol="0" anchor="t"/>
          <a:lstStyle/>
          <a:p>
            <a:pPr marL="0" indent="0">
              <a:buNone/>
            </a:pPr>
            <a:r>
              <a:rPr lang="en-US" sz="1200" b="1" dirty="0">
                <a:solidFill>
                  <a:srgbClr val="0F172A"/>
                </a:solidFill>
                <a:latin typeface="Calibri" pitchFamily="34" charset="0"/>
                <a:ea typeface="Calibri" pitchFamily="34" charset="-122"/>
                <a:cs typeface="Calibri" pitchFamily="34" charset="-120"/>
              </a:rPr>
              <a:t>Every relationship is labeled</a:t>
            </a:r>
            <a:endParaRPr lang="en-US" sz="1200" dirty="0"/>
          </a:p>
          <a:p>
            <a:pPr marL="0" indent="0">
              <a:buNone/>
            </a:pPr>
            <a:r>
              <a:rPr lang="en-US" sz="1100" dirty="0">
                <a:solidFill>
                  <a:srgbClr val="334155"/>
                </a:solidFill>
                <a:latin typeface="Calibri" pitchFamily="34" charset="0"/>
                <a:ea typeface="Calibri" pitchFamily="34" charset="-122"/>
                <a:cs typeface="Calibri" pitchFamily="34" charset="-120"/>
              </a:rPr>
              <a:t>"Reads events from" not just a bare line. Direction matters.</a:t>
            </a:r>
            <a:endParaRPr lang="en-US" sz="1200" dirty="0"/>
          </a:p>
        </p:txBody>
      </p:sp>
      <p:sp>
        <p:nvSpPr>
          <p:cNvPr id="10" name="Shape 8"/>
          <p:cNvSpPr/>
          <p:nvPr/>
        </p:nvSpPr>
        <p:spPr>
          <a:xfrm>
            <a:off x="640080" y="2194560"/>
            <a:ext cx="3749040" cy="10972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1" name="Shape 9"/>
          <p:cNvSpPr/>
          <p:nvPr/>
        </p:nvSpPr>
        <p:spPr>
          <a:xfrm>
            <a:off x="640080" y="2194560"/>
            <a:ext cx="54864" cy="1097280"/>
          </a:xfrm>
          <a:prstGeom prst="rect">
            <a:avLst/>
          </a:prstGeom>
          <a:solidFill>
            <a:srgbClr val="7C3AED"/>
          </a:solidFill>
          <a:ln/>
        </p:spPr>
        <p:txBody>
          <a:bodyPr/>
          <a:lstStyle/>
          <a:p>
            <a:endParaRPr lang="en-US"/>
          </a:p>
        </p:txBody>
      </p:sp>
      <p:sp>
        <p:nvSpPr>
          <p:cNvPr id="12" name="Text 10"/>
          <p:cNvSpPr/>
          <p:nvPr/>
        </p:nvSpPr>
        <p:spPr>
          <a:xfrm>
            <a:off x="822960" y="2286000"/>
            <a:ext cx="3429000" cy="914400"/>
          </a:xfrm>
          <a:prstGeom prst="rect">
            <a:avLst/>
          </a:prstGeom>
          <a:noFill/>
          <a:ln/>
        </p:spPr>
        <p:txBody>
          <a:bodyPr wrap="square" lIns="0" tIns="0" rIns="0" bIns="0" rtlCol="0" anchor="t"/>
          <a:lstStyle/>
          <a:p>
            <a:pPr marL="0" indent="0">
              <a:buNone/>
            </a:pPr>
            <a:r>
              <a:rPr lang="en-US" sz="1200" b="1" dirty="0">
                <a:solidFill>
                  <a:srgbClr val="0F172A"/>
                </a:solidFill>
                <a:latin typeface="Calibri" pitchFamily="34" charset="0"/>
                <a:ea typeface="Calibri" pitchFamily="34" charset="-122"/>
                <a:cs typeface="Calibri" pitchFamily="34" charset="-120"/>
              </a:rPr>
              <a:t>Each level has a single parent scope</a:t>
            </a:r>
            <a:endParaRPr lang="en-US" sz="1200" dirty="0"/>
          </a:p>
          <a:p>
            <a:pPr marL="0" indent="0">
              <a:buNone/>
            </a:pPr>
            <a:r>
              <a:rPr lang="en-US" sz="1100" dirty="0">
                <a:solidFill>
                  <a:srgbClr val="334155"/>
                </a:solidFill>
                <a:latin typeface="Calibri" pitchFamily="34" charset="0"/>
                <a:ea typeface="Calibri" pitchFamily="34" charset="-122"/>
                <a:cs typeface="Calibri" pitchFamily="34" charset="-120"/>
              </a:rPr>
              <a:t>L2 inside one system. L3 inside one container.</a:t>
            </a:r>
            <a:endParaRPr lang="en-US" sz="1200" dirty="0"/>
          </a:p>
        </p:txBody>
      </p:sp>
      <p:sp>
        <p:nvSpPr>
          <p:cNvPr id="13" name="Shape 11"/>
          <p:cNvSpPr/>
          <p:nvPr/>
        </p:nvSpPr>
        <p:spPr>
          <a:xfrm>
            <a:off x="4754880" y="2194560"/>
            <a:ext cx="3749040" cy="10972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4" name="Shape 12"/>
          <p:cNvSpPr/>
          <p:nvPr/>
        </p:nvSpPr>
        <p:spPr>
          <a:xfrm>
            <a:off x="4754880" y="2194560"/>
            <a:ext cx="54864" cy="1097280"/>
          </a:xfrm>
          <a:prstGeom prst="rect">
            <a:avLst/>
          </a:prstGeom>
          <a:solidFill>
            <a:srgbClr val="2563EB"/>
          </a:solidFill>
          <a:ln/>
        </p:spPr>
        <p:txBody>
          <a:bodyPr/>
          <a:lstStyle/>
          <a:p>
            <a:endParaRPr lang="en-US"/>
          </a:p>
        </p:txBody>
      </p:sp>
      <p:sp>
        <p:nvSpPr>
          <p:cNvPr id="15" name="Text 13"/>
          <p:cNvSpPr/>
          <p:nvPr/>
        </p:nvSpPr>
        <p:spPr>
          <a:xfrm>
            <a:off x="4937760" y="2286000"/>
            <a:ext cx="3429000" cy="914400"/>
          </a:xfrm>
          <a:prstGeom prst="rect">
            <a:avLst/>
          </a:prstGeom>
          <a:noFill/>
          <a:ln/>
        </p:spPr>
        <p:txBody>
          <a:bodyPr wrap="square" lIns="0" tIns="0" rIns="0" bIns="0" rtlCol="0" anchor="t"/>
          <a:lstStyle/>
          <a:p>
            <a:pPr marL="0" indent="0">
              <a:buNone/>
            </a:pPr>
            <a:r>
              <a:rPr lang="en-US" sz="1200" b="1" dirty="0">
                <a:solidFill>
                  <a:srgbClr val="0F172A"/>
                </a:solidFill>
                <a:latin typeface="Calibri" pitchFamily="34" charset="0"/>
                <a:ea typeface="Calibri" pitchFamily="34" charset="-122"/>
                <a:cs typeface="Calibri" pitchFamily="34" charset="-120"/>
              </a:rPr>
              <a:t>Show external deps at every level</a:t>
            </a:r>
            <a:endParaRPr lang="en-US" sz="1200" dirty="0"/>
          </a:p>
          <a:p>
            <a:pPr marL="0" indent="0">
              <a:buNone/>
            </a:pPr>
            <a:r>
              <a:rPr lang="en-US" sz="1100" dirty="0">
                <a:solidFill>
                  <a:srgbClr val="334155"/>
                </a:solidFill>
                <a:latin typeface="Calibri" pitchFamily="34" charset="0"/>
                <a:ea typeface="Calibri" pitchFamily="34" charset="-122"/>
                <a:cs typeface="Calibri" pitchFamily="34" charset="-120"/>
              </a:rPr>
              <a:t>People and external systems from L1 reappear in L2/L3.</a:t>
            </a:r>
            <a:endParaRPr lang="en-US" sz="1200" dirty="0"/>
          </a:p>
        </p:txBody>
      </p:sp>
      <p:sp>
        <p:nvSpPr>
          <p:cNvPr id="16" name="Shape 14"/>
          <p:cNvSpPr/>
          <p:nvPr/>
        </p:nvSpPr>
        <p:spPr>
          <a:xfrm>
            <a:off x="640080" y="3474720"/>
            <a:ext cx="3749040" cy="10972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7" name="Shape 15"/>
          <p:cNvSpPr/>
          <p:nvPr/>
        </p:nvSpPr>
        <p:spPr>
          <a:xfrm>
            <a:off x="640080" y="3474720"/>
            <a:ext cx="54864" cy="1097280"/>
          </a:xfrm>
          <a:prstGeom prst="rect">
            <a:avLst/>
          </a:prstGeom>
          <a:solidFill>
            <a:srgbClr val="EA580C"/>
          </a:solidFill>
          <a:ln/>
        </p:spPr>
        <p:txBody>
          <a:bodyPr/>
          <a:lstStyle/>
          <a:p>
            <a:endParaRPr lang="en-US"/>
          </a:p>
        </p:txBody>
      </p:sp>
      <p:sp>
        <p:nvSpPr>
          <p:cNvPr id="18" name="Text 16"/>
          <p:cNvSpPr/>
          <p:nvPr/>
        </p:nvSpPr>
        <p:spPr>
          <a:xfrm>
            <a:off x="822960" y="3566160"/>
            <a:ext cx="3429000" cy="914400"/>
          </a:xfrm>
          <a:prstGeom prst="rect">
            <a:avLst/>
          </a:prstGeom>
          <a:noFill/>
          <a:ln/>
        </p:spPr>
        <p:txBody>
          <a:bodyPr wrap="square" lIns="0" tIns="0" rIns="0" bIns="0" rtlCol="0" anchor="t"/>
          <a:lstStyle/>
          <a:p>
            <a:pPr marL="0" indent="0">
              <a:buNone/>
            </a:pPr>
            <a:r>
              <a:rPr lang="en-US" sz="1200" b="1" dirty="0">
                <a:solidFill>
                  <a:srgbClr val="0F172A"/>
                </a:solidFill>
                <a:latin typeface="Calibri" pitchFamily="34" charset="0"/>
                <a:ea typeface="Calibri" pitchFamily="34" charset="-122"/>
                <a:cs typeface="Calibri" pitchFamily="34" charset="-120"/>
              </a:rPr>
              <a:t>Abstractions, not implementation</a:t>
            </a:r>
            <a:endParaRPr lang="en-US" sz="1200" dirty="0"/>
          </a:p>
          <a:p>
            <a:pPr marL="0" indent="0">
              <a:buNone/>
            </a:pPr>
            <a:r>
              <a:rPr lang="en-US" sz="1100" dirty="0">
                <a:solidFill>
                  <a:srgbClr val="334155"/>
                </a:solidFill>
                <a:latin typeface="Calibri" pitchFamily="34" charset="0"/>
                <a:ea typeface="Calibri" pitchFamily="34" charset="-122"/>
                <a:cs typeface="Calibri" pitchFamily="34" charset="-120"/>
              </a:rPr>
              <a:t>L2: "PostgreSQL" not "pg_hba.conf". L3: "UserService" not every method.</a:t>
            </a:r>
            <a:endParaRPr lang="en-US" sz="1200" dirty="0"/>
          </a:p>
        </p:txBody>
      </p:sp>
      <p:sp>
        <p:nvSpPr>
          <p:cNvPr id="19" name="Shape 17"/>
          <p:cNvSpPr/>
          <p:nvPr/>
        </p:nvSpPr>
        <p:spPr>
          <a:xfrm>
            <a:off x="4754880" y="3474720"/>
            <a:ext cx="3749040" cy="10972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20" name="Shape 18"/>
          <p:cNvSpPr/>
          <p:nvPr/>
        </p:nvSpPr>
        <p:spPr>
          <a:xfrm>
            <a:off x="4754880" y="3474720"/>
            <a:ext cx="54864" cy="1097280"/>
          </a:xfrm>
          <a:prstGeom prst="rect">
            <a:avLst/>
          </a:prstGeom>
          <a:solidFill>
            <a:srgbClr val="D97706"/>
          </a:solidFill>
          <a:ln/>
        </p:spPr>
        <p:txBody>
          <a:bodyPr/>
          <a:lstStyle/>
          <a:p>
            <a:endParaRPr lang="en-US"/>
          </a:p>
        </p:txBody>
      </p:sp>
      <p:sp>
        <p:nvSpPr>
          <p:cNvPr id="21" name="Text 19"/>
          <p:cNvSpPr/>
          <p:nvPr/>
        </p:nvSpPr>
        <p:spPr>
          <a:xfrm>
            <a:off x="4937760" y="3566160"/>
            <a:ext cx="3429000" cy="914400"/>
          </a:xfrm>
          <a:prstGeom prst="rect">
            <a:avLst/>
          </a:prstGeom>
          <a:noFill/>
          <a:ln/>
        </p:spPr>
        <p:txBody>
          <a:bodyPr wrap="square" lIns="0" tIns="0" rIns="0" bIns="0" rtlCol="0" anchor="t"/>
          <a:lstStyle/>
          <a:p>
            <a:pPr marL="0" indent="0">
              <a:buNone/>
            </a:pPr>
            <a:r>
              <a:rPr lang="en-US" sz="1200" b="1" dirty="0">
                <a:solidFill>
                  <a:srgbClr val="0F172A"/>
                </a:solidFill>
                <a:latin typeface="Calibri" pitchFamily="34" charset="0"/>
                <a:ea typeface="Calibri" pitchFamily="34" charset="-122"/>
                <a:cs typeface="Calibri" pitchFamily="34" charset="-120"/>
              </a:rPr>
              <a:t>Model queues/topics, not the broker</a:t>
            </a:r>
            <a:endParaRPr lang="en-US" sz="1200" dirty="0"/>
          </a:p>
          <a:p>
            <a:pPr marL="0" indent="0">
              <a:buNone/>
            </a:pPr>
            <a:r>
              <a:rPr lang="en-US" sz="1100" dirty="0">
                <a:solidFill>
                  <a:srgbClr val="334155"/>
                </a:solidFill>
                <a:latin typeface="Calibri" pitchFamily="34" charset="0"/>
                <a:ea typeface="Calibri" pitchFamily="34" charset="-122"/>
                <a:cs typeface="Calibri" pitchFamily="34" charset="-120"/>
              </a:rPr>
              <a:t>c4model.com: individual queues as containers, or queue names on arrows.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txBody>
          <a:bodyPr/>
          <a:lstStyle/>
          <a:p>
            <a:endParaRPr lang="en-US"/>
          </a:p>
        </p:txBody>
      </p:sp>
      <p:sp>
        <p:nvSpPr>
          <p:cNvPr id="3" name="Text 1"/>
          <p:cNvSpPr/>
          <p:nvPr/>
        </p:nvSpPr>
        <p:spPr>
          <a:xfrm>
            <a:off x="640080" y="228600"/>
            <a:ext cx="7863840" cy="548640"/>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References &amp; Resources</a:t>
            </a:r>
            <a:endParaRPr lang="en-US" sz="2600" dirty="0"/>
          </a:p>
        </p:txBody>
      </p:sp>
      <p:sp>
        <p:nvSpPr>
          <p:cNvPr id="4" name="Text 2"/>
          <p:cNvSpPr/>
          <p:nvPr/>
        </p:nvSpPr>
        <p:spPr>
          <a:xfrm>
            <a:off x="640080" y="868680"/>
            <a:ext cx="7863840" cy="219456"/>
          </a:xfrm>
          <a:prstGeom prst="rect">
            <a:avLst/>
          </a:prstGeom>
          <a:noFill/>
          <a:ln/>
        </p:spPr>
        <p:txBody>
          <a:bodyPr wrap="square" lIns="0" tIns="0" rIns="0" bIns="0" rtlCol="0" anchor="ctr"/>
          <a:lstStyle/>
          <a:p>
            <a:pPr marL="0" indent="0">
              <a:buNone/>
            </a:pPr>
            <a:r>
              <a:rPr lang="en-US" sz="1100" b="1" dirty="0">
                <a:solidFill>
                  <a:srgbClr val="22D3EE"/>
                </a:solidFill>
                <a:latin typeface="Trebuchet MS" pitchFamily="34" charset="0"/>
                <a:ea typeface="Trebuchet MS" pitchFamily="34" charset="-122"/>
                <a:cs typeface="Trebuchet MS" pitchFamily="34" charset="-120"/>
              </a:rPr>
              <a:t>Primary Source</a:t>
            </a:r>
            <a:endParaRPr lang="en-US" sz="1100" dirty="0"/>
          </a:p>
        </p:txBody>
      </p:sp>
      <p:sp>
        <p:nvSpPr>
          <p:cNvPr id="5" name="Text 3"/>
          <p:cNvSpPr/>
          <p:nvPr/>
        </p:nvSpPr>
        <p:spPr>
          <a:xfrm>
            <a:off x="914400" y="1106424"/>
            <a:ext cx="7589520" cy="22860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Brown, S. (2018). The C4 Model. https://c4model.com  |  Queues &amp; Topics: c4model.com/abstractions/queues-and-topics</a:t>
            </a:r>
            <a:endParaRPr lang="en-US" sz="900" dirty="0"/>
          </a:p>
        </p:txBody>
      </p:sp>
      <p:sp>
        <p:nvSpPr>
          <p:cNvPr id="6" name="Text 4"/>
          <p:cNvSpPr/>
          <p:nvPr/>
        </p:nvSpPr>
        <p:spPr>
          <a:xfrm>
            <a:off x="914400" y="1335024"/>
            <a:ext cx="7589520" cy="22860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Brown, S. (2026). The C4 Model. O'Reilly Media (forthcoming).</a:t>
            </a:r>
            <a:endParaRPr lang="en-US" sz="900" dirty="0"/>
          </a:p>
        </p:txBody>
      </p:sp>
      <p:sp>
        <p:nvSpPr>
          <p:cNvPr id="7" name="Text 5"/>
          <p:cNvSpPr/>
          <p:nvPr/>
        </p:nvSpPr>
        <p:spPr>
          <a:xfrm>
            <a:off x="640080" y="1636776"/>
            <a:ext cx="7863840" cy="219456"/>
          </a:xfrm>
          <a:prstGeom prst="rect">
            <a:avLst/>
          </a:prstGeom>
          <a:noFill/>
          <a:ln/>
        </p:spPr>
        <p:txBody>
          <a:bodyPr wrap="square" lIns="0" tIns="0" rIns="0" bIns="0" rtlCol="0" anchor="ctr"/>
          <a:lstStyle/>
          <a:p>
            <a:pPr marL="0" indent="0">
              <a:buNone/>
            </a:pPr>
            <a:r>
              <a:rPr lang="en-US" sz="1100" b="1" dirty="0">
                <a:solidFill>
                  <a:srgbClr val="22D3EE"/>
                </a:solidFill>
                <a:latin typeface="Trebuchet MS" pitchFamily="34" charset="0"/>
                <a:ea typeface="Trebuchet MS" pitchFamily="34" charset="-122"/>
                <a:cs typeface="Trebuchet MS" pitchFamily="34" charset="-120"/>
              </a:rPr>
              <a:t>Practitioner Guidance</a:t>
            </a:r>
            <a:endParaRPr lang="en-US" sz="1100" dirty="0"/>
          </a:p>
        </p:txBody>
      </p:sp>
      <p:sp>
        <p:nvSpPr>
          <p:cNvPr id="8" name="Text 6"/>
          <p:cNvSpPr/>
          <p:nvPr/>
        </p:nvSpPr>
        <p:spPr>
          <a:xfrm>
            <a:off x="914400" y="1874520"/>
            <a:ext cx="7589520" cy="22860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Blewitt, J. (2024). The C4 Model in Practice. https://jamesblewitt.net/the-c4-model-in-practice/</a:t>
            </a:r>
            <a:endParaRPr lang="en-US" sz="900" dirty="0"/>
          </a:p>
        </p:txBody>
      </p:sp>
      <p:sp>
        <p:nvSpPr>
          <p:cNvPr id="9" name="Text 7"/>
          <p:cNvSpPr/>
          <p:nvPr/>
        </p:nvSpPr>
        <p:spPr>
          <a:xfrm>
            <a:off x="914400" y="2103120"/>
            <a:ext cx="7589520" cy="22860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Tournois, A. (2021). C4 model and agility: documenting architecture at ADEO. Medium / ADEO Tech Blog</a:t>
            </a:r>
            <a:endParaRPr lang="en-US" sz="900" dirty="0"/>
          </a:p>
        </p:txBody>
      </p:sp>
      <p:sp>
        <p:nvSpPr>
          <p:cNvPr id="10" name="Text 8"/>
          <p:cNvSpPr/>
          <p:nvPr/>
        </p:nvSpPr>
        <p:spPr>
          <a:xfrm>
            <a:off x="640080" y="2404872"/>
            <a:ext cx="7863840" cy="219456"/>
          </a:xfrm>
          <a:prstGeom prst="rect">
            <a:avLst/>
          </a:prstGeom>
          <a:noFill/>
          <a:ln/>
        </p:spPr>
        <p:txBody>
          <a:bodyPr wrap="square" lIns="0" tIns="0" rIns="0" bIns="0" rtlCol="0" anchor="ctr"/>
          <a:lstStyle/>
          <a:p>
            <a:pPr marL="0" indent="0">
              <a:buNone/>
            </a:pPr>
            <a:r>
              <a:rPr lang="en-US" sz="1100" b="1" dirty="0">
                <a:solidFill>
                  <a:srgbClr val="22D3EE"/>
                </a:solidFill>
                <a:latin typeface="Trebuchet MS" pitchFamily="34" charset="0"/>
                <a:ea typeface="Trebuchet MS" pitchFamily="34" charset="-122"/>
                <a:cs typeface="Trebuchet MS" pitchFamily="34" charset="-120"/>
              </a:rPr>
              <a:t>Tooling</a:t>
            </a:r>
            <a:endParaRPr lang="en-US" sz="1100" dirty="0"/>
          </a:p>
        </p:txBody>
      </p:sp>
      <p:sp>
        <p:nvSpPr>
          <p:cNvPr id="11" name="Text 9"/>
          <p:cNvSpPr/>
          <p:nvPr/>
        </p:nvSpPr>
        <p:spPr>
          <a:xfrm>
            <a:off x="914400" y="2642616"/>
            <a:ext cx="7589520" cy="22860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Structurizr DSL &amp; Lite — https://structurizr.com  |  Architecture as Code — https://aac.geon.se/06_structurizr/</a:t>
            </a:r>
            <a:endParaRPr lang="en-US" sz="900" dirty="0"/>
          </a:p>
        </p:txBody>
      </p:sp>
      <p:sp>
        <p:nvSpPr>
          <p:cNvPr id="12" name="Text 10"/>
          <p:cNvSpPr/>
          <p:nvPr/>
        </p:nvSpPr>
        <p:spPr>
          <a:xfrm>
            <a:off x="640080" y="2944368"/>
            <a:ext cx="7863840" cy="219456"/>
          </a:xfrm>
          <a:prstGeom prst="rect">
            <a:avLst/>
          </a:prstGeom>
          <a:noFill/>
          <a:ln/>
        </p:spPr>
        <p:txBody>
          <a:bodyPr wrap="square" lIns="0" tIns="0" rIns="0" bIns="0" rtlCol="0" anchor="ctr"/>
          <a:lstStyle/>
          <a:p>
            <a:pPr marL="0" indent="0">
              <a:buNone/>
            </a:pPr>
            <a:r>
              <a:rPr lang="en-US" sz="1100" b="1" dirty="0">
                <a:solidFill>
                  <a:srgbClr val="22D3EE"/>
                </a:solidFill>
                <a:latin typeface="Trebuchet MS" pitchFamily="34" charset="0"/>
                <a:ea typeface="Trebuchet MS" pitchFamily="34" charset="-122"/>
                <a:cs typeface="Trebuchet MS" pitchFamily="34" charset="-120"/>
              </a:rPr>
              <a:t>Research (C4 + LLM)</a:t>
            </a:r>
            <a:endParaRPr lang="en-US" sz="1100" dirty="0"/>
          </a:p>
        </p:txBody>
      </p:sp>
      <p:sp>
        <p:nvSpPr>
          <p:cNvPr id="13" name="Text 11"/>
          <p:cNvSpPr/>
          <p:nvPr/>
        </p:nvSpPr>
        <p:spPr>
          <a:xfrm>
            <a:off x="914400" y="3182112"/>
            <a:ext cx="7589520" cy="22860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Szczepanik &amp; Chudziak (2025). Collaborative LLM Agents for C4 Architecture Design Automation. arXiv:2510.22787</a:t>
            </a:r>
            <a:endParaRPr lang="en-US" sz="900" dirty="0"/>
          </a:p>
        </p:txBody>
      </p:sp>
      <p:sp>
        <p:nvSpPr>
          <p:cNvPr id="14" name="Text 12"/>
          <p:cNvSpPr/>
          <p:nvPr/>
        </p:nvSpPr>
        <p:spPr>
          <a:xfrm>
            <a:off x="914400" y="3410712"/>
            <a:ext cx="7589520" cy="22860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Amalfitano et al. (ECSA 2025). Automated SA Design Recovery from Source Code Using LLMs. Springer LNCS 15929</a:t>
            </a:r>
            <a:endParaRPr lang="en-US" sz="900" dirty="0"/>
          </a:p>
        </p:txBody>
      </p:sp>
      <p:sp>
        <p:nvSpPr>
          <p:cNvPr id="15" name="Text 13"/>
          <p:cNvSpPr/>
          <p:nvPr/>
        </p:nvSpPr>
        <p:spPr>
          <a:xfrm>
            <a:off x="640080" y="3712464"/>
            <a:ext cx="7863840" cy="219456"/>
          </a:xfrm>
          <a:prstGeom prst="rect">
            <a:avLst/>
          </a:prstGeom>
          <a:noFill/>
          <a:ln/>
        </p:spPr>
        <p:txBody>
          <a:bodyPr wrap="square" lIns="0" tIns="0" rIns="0" bIns="0" rtlCol="0" anchor="ctr"/>
          <a:lstStyle/>
          <a:p>
            <a:pPr marL="0" indent="0">
              <a:buNone/>
            </a:pPr>
            <a:r>
              <a:rPr lang="en-US" sz="1100" b="1" dirty="0">
                <a:solidFill>
                  <a:srgbClr val="22D3EE"/>
                </a:solidFill>
                <a:latin typeface="Trebuchet MS" pitchFamily="34" charset="0"/>
                <a:ea typeface="Trebuchet MS" pitchFamily="34" charset="-122"/>
                <a:cs typeface="Trebuchet MS" pitchFamily="34" charset="-120"/>
              </a:rPr>
              <a:t>Research (Architecture Recovery)</a:t>
            </a:r>
            <a:endParaRPr lang="en-US" sz="1100" dirty="0"/>
          </a:p>
        </p:txBody>
      </p:sp>
      <p:sp>
        <p:nvSpPr>
          <p:cNvPr id="16" name="Text 14"/>
          <p:cNvSpPr/>
          <p:nvPr/>
        </p:nvSpPr>
        <p:spPr>
          <a:xfrm>
            <a:off x="914400" y="3950208"/>
            <a:ext cx="7589520" cy="22860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Bucaioni et al. (2025). AI for Software Architecture: Lit Review and the Road Ahead. arXiv:2504.04334</a:t>
            </a:r>
            <a:endParaRPr lang="en-US" sz="900" dirty="0"/>
          </a:p>
        </p:txBody>
      </p:sp>
      <p:sp>
        <p:nvSpPr>
          <p:cNvPr id="17" name="Text 15"/>
          <p:cNvSpPr/>
          <p:nvPr/>
        </p:nvSpPr>
        <p:spPr>
          <a:xfrm>
            <a:off x="914400" y="4178808"/>
            <a:ext cx="7589520" cy="22860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Savidis &amp; Savaki (2022). SA Mining from Source Code with Dep Graph Clustering. VISIGRAPP</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FF2497E-B1BA-DEA4-1348-CAC1F19F9A18}"/>
              </a:ext>
            </a:extLst>
          </p:cNvPr>
          <p:cNvSpPr txBox="1"/>
          <p:nvPr/>
        </p:nvSpPr>
        <p:spPr>
          <a:xfrm>
            <a:off x="800099" y="504265"/>
            <a:ext cx="7725335" cy="5847755"/>
          </a:xfrm>
          <a:prstGeom prst="rect">
            <a:avLst/>
          </a:prstGeom>
          <a:noFill/>
        </p:spPr>
        <p:txBody>
          <a:bodyPr wrap="square" rtlCol="0">
            <a:spAutoFit/>
          </a:bodyPr>
          <a:lstStyle/>
          <a:p>
            <a:r>
              <a:rPr lang="en-US" sz="1100" dirty="0" err="1"/>
              <a:t>Notite</a:t>
            </a:r>
            <a:r>
              <a:rPr lang="en-US" sz="1100" dirty="0"/>
              <a:t>: </a:t>
            </a:r>
          </a:p>
          <a:p>
            <a:endParaRPr lang="en-US" sz="1100" dirty="0"/>
          </a:p>
          <a:p>
            <a:r>
              <a:rPr lang="en-US" sz="1100" dirty="0"/>
              <a:t>Context: </a:t>
            </a:r>
          </a:p>
          <a:p>
            <a:endParaRPr lang="en-US" sz="1100" dirty="0"/>
          </a:p>
          <a:p>
            <a:r>
              <a:rPr lang="en-US" sz="1100" dirty="0"/>
              <a:t>Where should you look?</a:t>
            </a:r>
          </a:p>
          <a:p>
            <a:endParaRPr lang="en-US" sz="1100" dirty="0"/>
          </a:p>
          <a:p>
            <a:r>
              <a:rPr lang="en-US" sz="1100" dirty="0"/>
              <a:t>Configs, </a:t>
            </a:r>
            <a:r>
              <a:rPr lang="en-US" sz="1100" dirty="0" err="1"/>
              <a:t>dockerfiles</a:t>
            </a:r>
            <a:r>
              <a:rPr lang="en-US" sz="1100" dirty="0"/>
              <a:t>: images, </a:t>
            </a:r>
            <a:r>
              <a:rPr lang="en-US" sz="1100" dirty="0" err="1"/>
              <a:t>cmds</a:t>
            </a:r>
            <a:r>
              <a:rPr lang="en-US" sz="1100" dirty="0"/>
              <a:t>? Project files, scripts.</a:t>
            </a:r>
          </a:p>
          <a:p>
            <a:r>
              <a:rPr lang="en-US" sz="1100" dirty="0"/>
              <a:t>- Diff languages, what about shell scripts? </a:t>
            </a:r>
          </a:p>
          <a:p>
            <a:endParaRPr lang="en-US" sz="1100" dirty="0"/>
          </a:p>
          <a:p>
            <a:endParaRPr lang="en-US" sz="1100" dirty="0"/>
          </a:p>
          <a:p>
            <a:endParaRPr lang="en-US" sz="1100" dirty="0"/>
          </a:p>
          <a:p>
            <a:r>
              <a:rPr lang="en-US" sz="1100" dirty="0"/>
              <a:t>To not forget? Competency questions with </a:t>
            </a:r>
            <a:r>
              <a:rPr lang="en-US" sz="1100" dirty="0" err="1"/>
              <a:t>llms</a:t>
            </a:r>
            <a:r>
              <a:rPr lang="en-US" sz="1100" dirty="0"/>
              <a:t> during the process. We use </a:t>
            </a:r>
            <a:r>
              <a:rPr lang="en-US" sz="1100" dirty="0" err="1"/>
              <a:t>llms</a:t>
            </a:r>
            <a:r>
              <a:rPr lang="en-US" sz="1100" dirty="0"/>
              <a:t> mostly for enhancement, does it make sense to integrate them in the code more -&gt; more decisions, more </a:t>
            </a:r>
            <a:r>
              <a:rPr lang="en-US" sz="1100" dirty="0" err="1"/>
              <a:t>realiability</a:t>
            </a:r>
            <a:r>
              <a:rPr lang="en-US" sz="1100" dirty="0"/>
              <a:t>?</a:t>
            </a:r>
          </a:p>
          <a:p>
            <a:endParaRPr lang="en-US" sz="1100" dirty="0"/>
          </a:p>
          <a:p>
            <a:r>
              <a:rPr lang="en-US" sz="1100" dirty="0"/>
              <a:t>TODO: Common CLAUDE.MD with the whole architecture</a:t>
            </a:r>
          </a:p>
          <a:p>
            <a:endParaRPr lang="en-US" sz="1100" dirty="0"/>
          </a:p>
          <a:p>
            <a:r>
              <a:rPr lang="en-US" sz="1100" dirty="0"/>
              <a:t>Decisions: </a:t>
            </a:r>
          </a:p>
          <a:p>
            <a:pPr marL="171450" indent="-171450">
              <a:buFont typeface="Arial" panose="020B0604020202020204" pitchFamily="34" charset="0"/>
              <a:buChar char="•"/>
            </a:pPr>
            <a:r>
              <a:rPr lang="en-US" sz="1100" dirty="0"/>
              <a:t>NO CODE level anymore</a:t>
            </a:r>
          </a:p>
          <a:p>
            <a:pPr marL="171450" indent="-171450">
              <a:buFont typeface="Arial" panose="020B0604020202020204" pitchFamily="34" charset="0"/>
              <a:buChar char="•"/>
            </a:pPr>
            <a:r>
              <a:rPr lang="en-US" sz="1100" dirty="0"/>
              <a:t>Create a project simulation for testing </a:t>
            </a:r>
          </a:p>
          <a:p>
            <a:endParaRPr lang="en-US" sz="1100" dirty="0"/>
          </a:p>
          <a:p>
            <a:endParaRPr lang="en-US" sz="1100" dirty="0"/>
          </a:p>
          <a:p>
            <a:endParaRPr lang="en-US" sz="1100" dirty="0"/>
          </a:p>
          <a:p>
            <a:endParaRPr lang="en-US" sz="1100" dirty="0"/>
          </a:p>
          <a:p>
            <a:endParaRPr lang="en-US" sz="1100" dirty="0"/>
          </a:p>
          <a:p>
            <a:endParaRPr lang="en-US" sz="1100" dirty="0"/>
          </a:p>
          <a:p>
            <a:endParaRPr lang="en-US" sz="1100" dirty="0"/>
          </a:p>
          <a:p>
            <a:endParaRPr lang="en-US" sz="1100" dirty="0"/>
          </a:p>
          <a:p>
            <a:endParaRPr lang="en-US" sz="1100" dirty="0"/>
          </a:p>
          <a:p>
            <a:endParaRPr lang="en-US" sz="1100" dirty="0"/>
          </a:p>
          <a:p>
            <a:endParaRPr lang="en-US" sz="1100" dirty="0"/>
          </a:p>
          <a:p>
            <a:endParaRPr lang="en-US" sz="1100" dirty="0"/>
          </a:p>
          <a:p>
            <a:endParaRPr lang="en-US" sz="1100" dirty="0"/>
          </a:p>
          <a:p>
            <a:endParaRPr lang="en-US" sz="1100" dirty="0"/>
          </a:p>
          <a:p>
            <a:r>
              <a:rPr lang="en-US" sz="1100" dirty="0"/>
              <a:t>    </a:t>
            </a:r>
          </a:p>
        </p:txBody>
      </p:sp>
    </p:spTree>
    <p:extLst>
      <p:ext uri="{BB962C8B-B14F-4D97-AF65-F5344CB8AC3E}">
        <p14:creationId xmlns:p14="http://schemas.microsoft.com/office/powerpoint/2010/main" val="16318700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73E8C9-40C8-6CBA-9AEA-CC74458E3E56}"/>
              </a:ext>
            </a:extLst>
          </p:cNvPr>
          <p:cNvSpPr txBox="1"/>
          <p:nvPr/>
        </p:nvSpPr>
        <p:spPr>
          <a:xfrm>
            <a:off x="73959" y="192161"/>
            <a:ext cx="8359981" cy="4801314"/>
          </a:xfrm>
          <a:prstGeom prst="rect">
            <a:avLst/>
          </a:prstGeom>
          <a:noFill/>
        </p:spPr>
        <p:txBody>
          <a:bodyPr wrap="none" rtlCol="0">
            <a:spAutoFit/>
          </a:bodyPr>
          <a:lstStyle/>
          <a:p>
            <a:r>
              <a:rPr lang="en-US" sz="600" b="1" dirty="0"/>
              <a:t>1. Core Ledger Service (</a:t>
            </a:r>
            <a:r>
              <a:rPr lang="en-US" sz="600" b="1" dirty="0" err="1"/>
              <a:t>omnipay</a:t>
            </a:r>
            <a:r>
              <a:rPr lang="en-US" sz="600" b="1" dirty="0"/>
              <a:t>-ledger)  - Iulia</a:t>
            </a:r>
          </a:p>
          <a:p>
            <a:r>
              <a:rPr lang="en-US" sz="600" b="1" dirty="0"/>
              <a:t>Language/Framework:</a:t>
            </a:r>
            <a:r>
              <a:rPr lang="en-US" sz="600" dirty="0"/>
              <a:t> Java / Spring Boot.</a:t>
            </a:r>
          </a:p>
          <a:p>
            <a:r>
              <a:rPr lang="en-US" sz="600" b="1" dirty="0"/>
              <a:t>Purpose:</a:t>
            </a:r>
            <a:r>
              <a:rPr lang="en-US" sz="600" dirty="0"/>
              <a:t> The source of truth for user balances and transaction processing.</a:t>
            </a:r>
          </a:p>
          <a:p>
            <a:r>
              <a:rPr lang="en-US" sz="600" b="1" dirty="0"/>
              <a:t>Key Files:</a:t>
            </a:r>
            <a:r>
              <a:rPr lang="en-US" sz="600" dirty="0"/>
              <a:t> </a:t>
            </a:r>
            <a:r>
              <a:rPr lang="en-US" sz="600" dirty="0" err="1"/>
              <a:t>pom.xml</a:t>
            </a:r>
            <a:r>
              <a:rPr lang="en-US" sz="600" dirty="0"/>
              <a:t>, </a:t>
            </a:r>
            <a:r>
              <a:rPr lang="en-US" sz="600" dirty="0" err="1"/>
              <a:t>Dockerfile</a:t>
            </a:r>
            <a:r>
              <a:rPr lang="en-US" sz="600" dirty="0"/>
              <a:t>, CODEOWNERS (assigned to multiple developers).</a:t>
            </a:r>
          </a:p>
          <a:p>
            <a:r>
              <a:rPr lang="en-US" sz="600" b="1" dirty="0"/>
              <a:t>What </a:t>
            </a:r>
            <a:r>
              <a:rPr lang="en-US" sz="600" b="1" dirty="0" err="1"/>
              <a:t>KnowledgeForge</a:t>
            </a:r>
            <a:r>
              <a:rPr lang="en-US" sz="600" b="1" dirty="0"/>
              <a:t> will show off:</a:t>
            </a:r>
            <a:r>
              <a:rPr lang="en-US" sz="600" dirty="0"/>
              <a:t> * </a:t>
            </a:r>
            <a:r>
              <a:rPr lang="en-US" sz="600" b="1" dirty="0"/>
              <a:t>Level 3:</a:t>
            </a:r>
            <a:r>
              <a:rPr lang="en-US" sz="600" dirty="0"/>
              <a:t> Your Phase A Spring framework matcher beautifully identifying @</a:t>
            </a:r>
            <a:r>
              <a:rPr lang="en-US" sz="600" dirty="0" err="1"/>
              <a:t>RestController</a:t>
            </a:r>
            <a:r>
              <a:rPr lang="en-US" sz="600" dirty="0"/>
              <a:t>, @Service, and @Repository layers.</a:t>
            </a:r>
          </a:p>
          <a:p>
            <a:pPr lvl="1"/>
            <a:r>
              <a:rPr lang="en-US" sz="600" b="1" dirty="0"/>
              <a:t>Level 2:</a:t>
            </a:r>
            <a:r>
              <a:rPr lang="en-US" sz="600" dirty="0"/>
              <a:t> </a:t>
            </a:r>
            <a:r>
              <a:rPr lang="en-US" sz="600" dirty="0" err="1"/>
              <a:t>StructureDetector</a:t>
            </a:r>
            <a:r>
              <a:rPr lang="en-US" sz="600" dirty="0"/>
              <a:t> pulling the </a:t>
            </a:r>
            <a:r>
              <a:rPr lang="en-US" sz="600" dirty="0" err="1"/>
              <a:t>pom.xml</a:t>
            </a:r>
            <a:r>
              <a:rPr lang="en-US" sz="600" dirty="0"/>
              <a:t> and </a:t>
            </a:r>
            <a:r>
              <a:rPr lang="en-US" sz="600" dirty="0" err="1"/>
              <a:t>Dockerfile</a:t>
            </a:r>
            <a:r>
              <a:rPr lang="en-US" sz="600" dirty="0"/>
              <a:t>.</a:t>
            </a:r>
          </a:p>
          <a:p>
            <a:endParaRPr lang="en-US" sz="600" b="1" dirty="0"/>
          </a:p>
          <a:p>
            <a:r>
              <a:rPr lang="en-US" sz="600" b="1" dirty="0"/>
              <a:t>2. Fraud Detection Engine (</a:t>
            </a:r>
            <a:r>
              <a:rPr lang="en-US" sz="600" b="1" dirty="0" err="1"/>
              <a:t>omnipay</a:t>
            </a:r>
            <a:r>
              <a:rPr lang="en-US" sz="600" b="1" dirty="0"/>
              <a:t>-fraud-ml) - Vlas</a:t>
            </a:r>
          </a:p>
          <a:p>
            <a:r>
              <a:rPr lang="en-US" sz="600" b="1" dirty="0"/>
              <a:t>Language/Framework:</a:t>
            </a:r>
            <a:r>
              <a:rPr lang="en-US" sz="600" dirty="0"/>
              <a:t> Python / </a:t>
            </a:r>
            <a:r>
              <a:rPr lang="en-US" sz="600" dirty="0" err="1"/>
              <a:t>FastAPI</a:t>
            </a:r>
            <a:r>
              <a:rPr lang="en-US" sz="600" dirty="0"/>
              <a:t>.</a:t>
            </a:r>
          </a:p>
          <a:p>
            <a:r>
              <a:rPr lang="en-US" sz="600" b="1" dirty="0"/>
              <a:t>Purpose:</a:t>
            </a:r>
            <a:r>
              <a:rPr lang="en-US" sz="600" dirty="0"/>
              <a:t> Analyzes transactions in real-time for suspicious patterns.</a:t>
            </a:r>
          </a:p>
          <a:p>
            <a:r>
              <a:rPr lang="en-US" sz="600" b="1" dirty="0"/>
              <a:t>Key Files:</a:t>
            </a:r>
            <a:r>
              <a:rPr lang="en-US" sz="600" dirty="0"/>
              <a:t> </a:t>
            </a:r>
            <a:r>
              <a:rPr lang="en-US" sz="600" dirty="0" err="1"/>
              <a:t>requirements.txt</a:t>
            </a:r>
            <a:r>
              <a:rPr lang="en-US" sz="600" dirty="0"/>
              <a:t>, </a:t>
            </a:r>
            <a:r>
              <a:rPr lang="en-US" sz="600" dirty="0" err="1"/>
              <a:t>Dockerfile</a:t>
            </a:r>
            <a:r>
              <a:rPr lang="en-US" sz="600" dirty="0"/>
              <a:t>, .</a:t>
            </a:r>
            <a:r>
              <a:rPr lang="en-US" sz="600" dirty="0" err="1"/>
              <a:t>env.example</a:t>
            </a:r>
            <a:r>
              <a:rPr lang="en-US" sz="600" dirty="0"/>
              <a:t> (containing fake OpenAI/</a:t>
            </a:r>
            <a:r>
              <a:rPr lang="en-US" sz="600" dirty="0" err="1"/>
              <a:t>DataDog</a:t>
            </a:r>
            <a:r>
              <a:rPr lang="en-US" sz="600" dirty="0"/>
              <a:t> API keys), git log (manipulated so only one dev ever commits).</a:t>
            </a:r>
          </a:p>
          <a:p>
            <a:r>
              <a:rPr lang="en-US" sz="600" b="1" dirty="0"/>
              <a:t>What </a:t>
            </a:r>
            <a:r>
              <a:rPr lang="en-US" sz="600" b="1" dirty="0" err="1"/>
              <a:t>KnowledgeForge</a:t>
            </a:r>
            <a:r>
              <a:rPr lang="en-US" sz="600" b="1" dirty="0"/>
              <a:t> will show off:</a:t>
            </a:r>
            <a:endParaRPr lang="en-US" sz="600" dirty="0"/>
          </a:p>
          <a:p>
            <a:pPr lvl="1"/>
            <a:r>
              <a:rPr lang="en-US" sz="600" b="1" dirty="0"/>
              <a:t>Level 1:</a:t>
            </a:r>
            <a:r>
              <a:rPr lang="en-US" sz="600" dirty="0"/>
              <a:t> Your </a:t>
            </a:r>
            <a:r>
              <a:rPr lang="en-US" sz="600" dirty="0" err="1"/>
              <a:t>MetadataDetector</a:t>
            </a:r>
            <a:r>
              <a:rPr lang="en-US" sz="600" dirty="0"/>
              <a:t> flagging this as "Critical" tier, "High Data Sensitivity," and—crucially—a </a:t>
            </a:r>
            <a:r>
              <a:rPr lang="en-US" sz="600" b="1" dirty="0"/>
              <a:t>Bus Factor of 1</a:t>
            </a:r>
            <a:r>
              <a:rPr lang="en-US" sz="600" dirty="0"/>
              <a:t> based on the Git log.</a:t>
            </a:r>
          </a:p>
          <a:p>
            <a:pPr lvl="1"/>
            <a:r>
              <a:rPr lang="en-US" sz="600" b="1" dirty="0"/>
              <a:t>Level 3:</a:t>
            </a:r>
            <a:r>
              <a:rPr lang="en-US" sz="600" dirty="0"/>
              <a:t> The Louvain community detection separating the data-science/pandas functions from the </a:t>
            </a:r>
            <a:r>
              <a:rPr lang="en-US" sz="600" dirty="0" err="1"/>
              <a:t>FastAPI</a:t>
            </a:r>
            <a:r>
              <a:rPr lang="en-US" sz="600" dirty="0"/>
              <a:t> routing logic.</a:t>
            </a:r>
          </a:p>
          <a:p>
            <a:endParaRPr lang="en-US" sz="600" b="1" dirty="0"/>
          </a:p>
          <a:p>
            <a:r>
              <a:rPr lang="en-US" sz="600" b="1" dirty="0"/>
              <a:t>3. Client API Gateway (</a:t>
            </a:r>
            <a:r>
              <a:rPr lang="en-US" sz="600" b="1" dirty="0" err="1"/>
              <a:t>omnipay</a:t>
            </a:r>
            <a:r>
              <a:rPr lang="en-US" sz="600" b="1" dirty="0"/>
              <a:t>-gateway) - Vlad</a:t>
            </a:r>
          </a:p>
          <a:p>
            <a:r>
              <a:rPr lang="en-US" sz="600" b="1" dirty="0"/>
              <a:t>Language/Framework:</a:t>
            </a:r>
            <a:r>
              <a:rPr lang="en-US" sz="600" dirty="0"/>
              <a:t> TypeScript / </a:t>
            </a:r>
            <a:r>
              <a:rPr lang="en-US" sz="600" dirty="0" err="1"/>
              <a:t>NestJS</a:t>
            </a:r>
            <a:r>
              <a:rPr lang="en-US" sz="600" dirty="0"/>
              <a:t>.</a:t>
            </a:r>
          </a:p>
          <a:p>
            <a:r>
              <a:rPr lang="en-US" sz="600" b="1" dirty="0"/>
              <a:t>Purpose:</a:t>
            </a:r>
            <a:r>
              <a:rPr lang="en-US" sz="600" dirty="0"/>
              <a:t> The Backend-For-Frontend serving the mobile apps.</a:t>
            </a:r>
          </a:p>
          <a:p>
            <a:r>
              <a:rPr lang="en-US" sz="600" b="1" dirty="0"/>
              <a:t>Key Files:</a:t>
            </a:r>
            <a:r>
              <a:rPr lang="en-US" sz="600" dirty="0"/>
              <a:t> </a:t>
            </a:r>
            <a:r>
              <a:rPr lang="en-US" sz="600" dirty="0" err="1"/>
              <a:t>package.json</a:t>
            </a:r>
            <a:r>
              <a:rPr lang="en-US" sz="600" dirty="0"/>
              <a:t>, docker-</a:t>
            </a:r>
            <a:r>
              <a:rPr lang="en-US" sz="600" dirty="0" err="1"/>
              <a:t>compose.yml</a:t>
            </a:r>
            <a:r>
              <a:rPr lang="en-US" sz="600" dirty="0"/>
              <a:t> (spinning up this service alongside a Redis cache container).</a:t>
            </a:r>
          </a:p>
          <a:p>
            <a:r>
              <a:rPr lang="en-US" sz="600" b="1" dirty="0"/>
              <a:t>What </a:t>
            </a:r>
            <a:r>
              <a:rPr lang="en-US" sz="600" b="1" dirty="0" err="1"/>
              <a:t>KnowledgeForge</a:t>
            </a:r>
            <a:r>
              <a:rPr lang="en-US" sz="600" b="1" dirty="0"/>
              <a:t> will show off:</a:t>
            </a:r>
            <a:endParaRPr lang="en-US" sz="600" dirty="0"/>
          </a:p>
          <a:p>
            <a:pPr lvl="1"/>
            <a:r>
              <a:rPr lang="en-US" sz="600" b="1" dirty="0"/>
              <a:t>Level 2:</a:t>
            </a:r>
            <a:r>
              <a:rPr lang="en-US" sz="600" dirty="0"/>
              <a:t> The </a:t>
            </a:r>
            <a:r>
              <a:rPr lang="en-US" sz="600" dirty="0" err="1"/>
              <a:t>ComposeDetector</a:t>
            </a:r>
            <a:r>
              <a:rPr lang="en-US" sz="600" dirty="0"/>
              <a:t> parsing the docker-</a:t>
            </a:r>
            <a:r>
              <a:rPr lang="en-US" sz="600" dirty="0" err="1"/>
              <a:t>compose.yml</a:t>
            </a:r>
            <a:r>
              <a:rPr lang="en-US" sz="600" dirty="0"/>
              <a:t> to automatically draw the dependency between the Gateway and Redis.</a:t>
            </a:r>
          </a:p>
          <a:p>
            <a:pPr lvl="1"/>
            <a:r>
              <a:rPr lang="en-US" sz="600" b="1" dirty="0"/>
              <a:t>Level 3:</a:t>
            </a:r>
            <a:r>
              <a:rPr lang="en-US" sz="600" dirty="0"/>
              <a:t> </a:t>
            </a:r>
            <a:r>
              <a:rPr lang="en-US" sz="600" dirty="0" err="1"/>
              <a:t>NestJS</a:t>
            </a:r>
            <a:r>
              <a:rPr lang="en-US" sz="600" dirty="0"/>
              <a:t> AST framework matchers grabbing modules and controllers.</a:t>
            </a:r>
          </a:p>
          <a:p>
            <a:endParaRPr lang="en-US" sz="600" b="1" dirty="0"/>
          </a:p>
          <a:p>
            <a:r>
              <a:rPr lang="en-US" sz="600" b="1" dirty="0"/>
              <a:t>4. Webhook &amp; Notification Worker (</a:t>
            </a:r>
            <a:r>
              <a:rPr lang="en-US" sz="600" b="1" dirty="0" err="1"/>
              <a:t>omnipay</a:t>
            </a:r>
            <a:r>
              <a:rPr lang="en-US" sz="600" b="1" dirty="0"/>
              <a:t>-notifier) - Iulia</a:t>
            </a:r>
          </a:p>
          <a:p>
            <a:r>
              <a:rPr lang="en-US" sz="600" b="1" dirty="0"/>
              <a:t>Language/Framework:</a:t>
            </a:r>
            <a:r>
              <a:rPr lang="en-US" sz="600" dirty="0"/>
              <a:t> Go.</a:t>
            </a:r>
          </a:p>
          <a:p>
            <a:r>
              <a:rPr lang="en-US" sz="600" b="1" dirty="0"/>
              <a:t>Purpose:</a:t>
            </a:r>
            <a:r>
              <a:rPr lang="en-US" sz="600" dirty="0"/>
              <a:t> Listens to message queues and dispatches SMS/email receipts.</a:t>
            </a:r>
          </a:p>
          <a:p>
            <a:r>
              <a:rPr lang="en-US" sz="600" b="1" dirty="0"/>
              <a:t>Key Files:</a:t>
            </a:r>
            <a:r>
              <a:rPr lang="en-US" sz="600" dirty="0"/>
              <a:t> </a:t>
            </a:r>
            <a:r>
              <a:rPr lang="en-US" sz="600" dirty="0" err="1"/>
              <a:t>go.mod</a:t>
            </a:r>
            <a:r>
              <a:rPr lang="en-US" sz="600" dirty="0"/>
              <a:t>, </a:t>
            </a:r>
            <a:r>
              <a:rPr lang="en-US" sz="600" dirty="0" err="1"/>
              <a:t>Dockerfile</a:t>
            </a:r>
            <a:r>
              <a:rPr lang="en-US" sz="600" dirty="0"/>
              <a:t>.</a:t>
            </a:r>
          </a:p>
          <a:p>
            <a:r>
              <a:rPr lang="en-US" sz="600" b="1" dirty="0"/>
              <a:t>What </a:t>
            </a:r>
            <a:r>
              <a:rPr lang="en-US" sz="600" b="1" dirty="0" err="1"/>
              <a:t>KnowledgeForge</a:t>
            </a:r>
            <a:r>
              <a:rPr lang="en-US" sz="600" b="1" dirty="0"/>
              <a:t> will show off:</a:t>
            </a:r>
            <a:endParaRPr lang="en-US" sz="600" dirty="0"/>
          </a:p>
          <a:p>
            <a:pPr lvl="1"/>
            <a:r>
              <a:rPr lang="en-US" sz="600" b="1" dirty="0"/>
              <a:t>Level 1:</a:t>
            </a:r>
            <a:r>
              <a:rPr lang="en-US" sz="600" dirty="0"/>
              <a:t> </a:t>
            </a:r>
            <a:r>
              <a:rPr lang="en-US" sz="600" dirty="0" err="1"/>
              <a:t>DependencyDetector</a:t>
            </a:r>
            <a:r>
              <a:rPr lang="en-US" sz="600" dirty="0"/>
              <a:t> mapping known Go SDKs (e.g., Twilio, SendGrid) to external SaaS boundaries.</a:t>
            </a:r>
          </a:p>
          <a:p>
            <a:pPr lvl="1"/>
            <a:r>
              <a:rPr lang="en-US" sz="600" b="1" dirty="0"/>
              <a:t>Level 3:</a:t>
            </a:r>
            <a:r>
              <a:rPr lang="en-US" sz="600" dirty="0"/>
              <a:t> Go AST visitor checking structural edges and imports.</a:t>
            </a:r>
          </a:p>
          <a:p>
            <a:endParaRPr lang="en-US" sz="600" b="1" dirty="0"/>
          </a:p>
          <a:p>
            <a:r>
              <a:rPr lang="en-US" sz="600" b="1" dirty="0"/>
              <a:t>5. Infrastructure &amp; Orchestration (</a:t>
            </a:r>
            <a:r>
              <a:rPr lang="en-US" sz="600" b="1" dirty="0" err="1"/>
              <a:t>omnipay</a:t>
            </a:r>
            <a:r>
              <a:rPr lang="en-US" sz="600" b="1" dirty="0"/>
              <a:t>-infra) -Iulia</a:t>
            </a:r>
          </a:p>
          <a:p>
            <a:r>
              <a:rPr lang="en-US" sz="600" b="1" dirty="0"/>
              <a:t>Tech Stack:</a:t>
            </a:r>
            <a:r>
              <a:rPr lang="en-US" sz="600" dirty="0"/>
              <a:t> Terraform &amp; Helm.</a:t>
            </a:r>
          </a:p>
          <a:p>
            <a:r>
              <a:rPr lang="en-US" sz="600" b="1" dirty="0"/>
              <a:t>Purpose:</a:t>
            </a:r>
            <a:r>
              <a:rPr lang="en-US" sz="600" dirty="0"/>
              <a:t> Provisions the AWS environment and Kubernetes clusters.</a:t>
            </a:r>
          </a:p>
          <a:p>
            <a:r>
              <a:rPr lang="en-US" sz="600" b="1" dirty="0"/>
              <a:t>Key Files:</a:t>
            </a:r>
            <a:r>
              <a:rPr lang="en-US" sz="600" dirty="0"/>
              <a:t> </a:t>
            </a:r>
            <a:r>
              <a:rPr lang="en-US" sz="600" dirty="0" err="1"/>
              <a:t>main.tf</a:t>
            </a:r>
            <a:r>
              <a:rPr lang="en-US" sz="600" dirty="0"/>
              <a:t>, </a:t>
            </a:r>
            <a:r>
              <a:rPr lang="en-US" sz="600" dirty="0" err="1"/>
              <a:t>variables.tf</a:t>
            </a:r>
            <a:r>
              <a:rPr lang="en-US" sz="600" dirty="0"/>
              <a:t>, </a:t>
            </a:r>
            <a:r>
              <a:rPr lang="en-US" sz="600" dirty="0" err="1"/>
              <a:t>Chart.yaml</a:t>
            </a:r>
            <a:r>
              <a:rPr lang="en-US" sz="600" dirty="0"/>
              <a:t>, </a:t>
            </a:r>
            <a:r>
              <a:rPr lang="en-US" sz="600" dirty="0" err="1"/>
              <a:t>values.yaml</a:t>
            </a:r>
            <a:r>
              <a:rPr lang="en-US" sz="600" dirty="0"/>
              <a:t>.</a:t>
            </a:r>
          </a:p>
          <a:p>
            <a:r>
              <a:rPr lang="en-US" sz="600" b="1" dirty="0"/>
              <a:t>What </a:t>
            </a:r>
            <a:r>
              <a:rPr lang="en-US" sz="600" b="1" dirty="0" err="1"/>
              <a:t>KnowledgeForge</a:t>
            </a:r>
            <a:r>
              <a:rPr lang="en-US" sz="600" b="1" dirty="0"/>
              <a:t> will show off:</a:t>
            </a:r>
            <a:endParaRPr lang="en-US" sz="600" dirty="0"/>
          </a:p>
          <a:p>
            <a:pPr lvl="1"/>
            <a:r>
              <a:rPr lang="en-US" sz="600" b="1" dirty="0"/>
              <a:t>Level 2:</a:t>
            </a:r>
            <a:r>
              <a:rPr lang="en-US" sz="600" dirty="0"/>
              <a:t> </a:t>
            </a:r>
            <a:r>
              <a:rPr lang="en-US" sz="600" dirty="0" err="1"/>
              <a:t>TerraformDetector</a:t>
            </a:r>
            <a:r>
              <a:rPr lang="en-US" sz="600" dirty="0"/>
              <a:t> finding the RDS Postgres database and S3 buckets. </a:t>
            </a:r>
            <a:r>
              <a:rPr lang="en-US" sz="600" dirty="0" err="1"/>
              <a:t>HelmDetector</a:t>
            </a:r>
            <a:r>
              <a:rPr lang="en-US" sz="600" dirty="0"/>
              <a:t> mapping the deployments. Your slug-based identity matching will seamlessly link the GitHub repos to this infrastructure.</a:t>
            </a:r>
          </a:p>
          <a:p>
            <a:br>
              <a:rPr lang="en-US" sz="600" dirty="0"/>
            </a:br>
            <a:endParaRPr lang="en-US" sz="600" dirty="0"/>
          </a:p>
          <a:p>
            <a:r>
              <a:rPr lang="en-US" sz="600" b="1" dirty="0"/>
              <a:t>6. Card Network Integration (</a:t>
            </a:r>
            <a:r>
              <a:rPr lang="en-US" sz="600" b="1" dirty="0" err="1"/>
              <a:t>omnipay</a:t>
            </a:r>
            <a:r>
              <a:rPr lang="en-US" sz="600" b="1" dirty="0"/>
              <a:t>-card-router). - Vlad</a:t>
            </a:r>
          </a:p>
          <a:p>
            <a:r>
              <a:rPr lang="en-US" sz="600" b="1" dirty="0"/>
              <a:t>Language/Framework:</a:t>
            </a:r>
            <a:r>
              <a:rPr lang="en-US" sz="600" dirty="0"/>
              <a:t> C# / ASP.NET Core (.NET 8) with Entity Framework Core.</a:t>
            </a:r>
          </a:p>
          <a:p>
            <a:r>
              <a:rPr lang="en-US" sz="600" b="1" dirty="0"/>
              <a:t>Purpose:</a:t>
            </a:r>
            <a:r>
              <a:rPr lang="en-US" sz="600" dirty="0"/>
              <a:t> The highly secure service that actually talks to external credit card networks (like Visa, Mastercard, or a dummy "</a:t>
            </a:r>
            <a:r>
              <a:rPr lang="en-US" sz="600" dirty="0" err="1"/>
              <a:t>GlobalBank</a:t>
            </a:r>
            <a:r>
              <a:rPr lang="en-US" sz="600" dirty="0"/>
              <a:t> API") to authorize holds and captures.</a:t>
            </a:r>
          </a:p>
          <a:p>
            <a:r>
              <a:rPr lang="en-US" sz="600" b="1" dirty="0"/>
              <a:t>Key Files to Include:</a:t>
            </a:r>
            <a:r>
              <a:rPr lang="en-US" sz="600" dirty="0"/>
              <a:t> </a:t>
            </a:r>
            <a:r>
              <a:rPr lang="en-US" sz="600" dirty="0" err="1"/>
              <a:t>OmniPay.CardRouter.csproj</a:t>
            </a:r>
            <a:r>
              <a:rPr lang="en-US" sz="600" dirty="0"/>
              <a:t>, </a:t>
            </a:r>
            <a:r>
              <a:rPr lang="en-US" sz="600" dirty="0" err="1"/>
              <a:t>appsettings.json</a:t>
            </a:r>
            <a:r>
              <a:rPr lang="en-US" sz="600" dirty="0"/>
              <a:t>, </a:t>
            </a:r>
            <a:r>
              <a:rPr lang="en-US" sz="600" dirty="0" err="1"/>
              <a:t>Dockerfile</a:t>
            </a:r>
            <a:r>
              <a:rPr lang="en-US" sz="600" dirty="0"/>
              <a:t>, and a tightly controlled CODEOWNERS file.</a:t>
            </a:r>
          </a:p>
          <a:p>
            <a:r>
              <a:rPr lang="en-US" sz="600" b="1" dirty="0"/>
              <a:t>What </a:t>
            </a:r>
            <a:r>
              <a:rPr lang="en-US" sz="600" b="1" dirty="0" err="1"/>
              <a:t>KnowledgeForge</a:t>
            </a:r>
            <a:r>
              <a:rPr lang="en-US" sz="600" b="1" dirty="0"/>
              <a:t> will show off:</a:t>
            </a:r>
            <a:endParaRPr lang="en-US" sz="600" dirty="0"/>
          </a:p>
          <a:p>
            <a:pPr lvl="1"/>
            <a:r>
              <a:rPr lang="en-US" sz="600" b="1" dirty="0"/>
              <a:t>Level 2 (Container):</a:t>
            </a:r>
            <a:r>
              <a:rPr lang="en-US" sz="600" dirty="0"/>
              <a:t> Your </a:t>
            </a:r>
            <a:r>
              <a:rPr lang="en-US" sz="600" dirty="0" err="1"/>
              <a:t>StructureDetector</a:t>
            </a:r>
            <a:r>
              <a:rPr lang="en-US" sz="600" dirty="0"/>
              <a:t> will walk the filesystem, spot the .</a:t>
            </a:r>
            <a:r>
              <a:rPr lang="en-US" sz="600" dirty="0" err="1"/>
              <a:t>csproj</a:t>
            </a:r>
            <a:r>
              <a:rPr lang="en-US" sz="600" dirty="0"/>
              <a:t> file as the framework manifest, and parse the </a:t>
            </a:r>
            <a:r>
              <a:rPr lang="en-US" sz="600" dirty="0" err="1"/>
              <a:t>Dockerfile</a:t>
            </a:r>
            <a:r>
              <a:rPr lang="en-US" sz="600" dirty="0"/>
              <a:t> to establish it as a core container.</a:t>
            </a:r>
          </a:p>
          <a:p>
            <a:pPr lvl="1"/>
            <a:r>
              <a:rPr lang="en-US" sz="600" b="1" dirty="0"/>
              <a:t>Level 1 (Context):</a:t>
            </a:r>
            <a:r>
              <a:rPr lang="en-US" sz="600" dirty="0"/>
              <a:t> * </a:t>
            </a:r>
            <a:r>
              <a:rPr lang="en-US" sz="600" b="1" dirty="0" err="1"/>
              <a:t>MetadataDetector</a:t>
            </a:r>
            <a:r>
              <a:rPr lang="en-US" sz="600" b="1" dirty="0"/>
              <a:t>:</a:t>
            </a:r>
            <a:r>
              <a:rPr lang="en-US" sz="600" dirty="0"/>
              <a:t> Because this handles raw credit card data, this service should be tagged with the highest "Criticality Tier," an extreme "Data Sensitivity Class" (PCI-DSS level), and a severe "Compliance Risk Score."</a:t>
            </a:r>
          </a:p>
          <a:p>
            <a:pPr lvl="2"/>
            <a:r>
              <a:rPr lang="en-US" sz="600" b="1" dirty="0" err="1"/>
              <a:t>DependencyDetector</a:t>
            </a:r>
            <a:r>
              <a:rPr lang="en-US" sz="600" b="1" dirty="0"/>
              <a:t>:</a:t>
            </a:r>
            <a:r>
              <a:rPr lang="en-US" sz="600" dirty="0"/>
              <a:t> It will parse the </a:t>
            </a:r>
            <a:r>
              <a:rPr lang="en-US" sz="600" dirty="0" err="1"/>
              <a:t>appsettings.json</a:t>
            </a:r>
            <a:r>
              <a:rPr lang="en-US" sz="600" dirty="0"/>
              <a:t> or environment files to find the external URLs for the banking networks, mapping a clear boundary to external SaaS/Banking systems.</a:t>
            </a:r>
          </a:p>
          <a:p>
            <a:pPr lvl="1"/>
            <a:r>
              <a:rPr lang="en-US" sz="600" b="1" dirty="0"/>
              <a:t>Level 3 (Component):</a:t>
            </a:r>
            <a:r>
              <a:rPr lang="en-US" sz="600" dirty="0"/>
              <a:t> * </a:t>
            </a:r>
            <a:r>
              <a:rPr lang="en-US" sz="600" b="1" dirty="0"/>
              <a:t>Phase A:</a:t>
            </a:r>
            <a:r>
              <a:rPr lang="en-US" sz="600" dirty="0"/>
              <a:t> Your tree-sitter AST visitor for C# will parse the source code to find framework roles.</a:t>
            </a:r>
          </a:p>
          <a:p>
            <a:pPr lvl="2"/>
            <a:r>
              <a:rPr lang="en-US" sz="600" b="1" dirty="0"/>
              <a:t>Phase C:</a:t>
            </a:r>
            <a:r>
              <a:rPr lang="en-US" sz="600" dirty="0"/>
              <a:t> Your framework pattern matchers will specifically hunt for ASP.NET Core and Entity Framework signatures—such as classes decorated with [</a:t>
            </a:r>
            <a:r>
              <a:rPr lang="en-US" sz="600" dirty="0" err="1"/>
              <a:t>ApiController</a:t>
            </a:r>
            <a:r>
              <a:rPr lang="en-US" sz="600" dirty="0"/>
              <a:t>], [Route(...)], and classes inheriting from </a:t>
            </a:r>
            <a:r>
              <a:rPr lang="en-US" sz="600" dirty="0" err="1"/>
              <a:t>DbContext</a:t>
            </a:r>
            <a:r>
              <a:rPr lang="en-US" sz="600" dirty="0"/>
              <a:t> or implementing</a:t>
            </a:r>
          </a:p>
          <a:p>
            <a:pPr lvl="2"/>
            <a:r>
              <a:rPr lang="en-US" sz="600" dirty="0"/>
              <a:t> custom repository interfaces.</a:t>
            </a:r>
          </a:p>
          <a:p>
            <a:endParaRPr lang="en-US" sz="600" b="1" dirty="0"/>
          </a:p>
        </p:txBody>
      </p:sp>
    </p:spTree>
    <p:extLst>
      <p:ext uri="{BB962C8B-B14F-4D97-AF65-F5344CB8AC3E}">
        <p14:creationId xmlns:p14="http://schemas.microsoft.com/office/powerpoint/2010/main" val="27472371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135</TotalTime>
  <Words>3298</Words>
  <Application>Microsoft Macintosh PowerPoint</Application>
  <PresentationFormat>On-screen Show (16:9)</PresentationFormat>
  <Paragraphs>365</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C4 Architecture Model – Level Reference</dc:title>
  <dc:subject>PptxGenJS Presentation</dc:subject>
  <dc:creator>Iulia</dc:creator>
  <cp:lastModifiedBy>Rinea, Iulia-Georgiana</cp:lastModifiedBy>
  <cp:revision>3</cp:revision>
  <dcterms:created xsi:type="dcterms:W3CDTF">2026-03-07T16:09:48Z</dcterms:created>
  <dcterms:modified xsi:type="dcterms:W3CDTF">2026-03-07T18:26:48Z</dcterms:modified>
</cp:coreProperties>
</file>